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f6d7a378254e65" /><Relationship Type="http://schemas.openxmlformats.org/officeDocument/2006/relationships/extended-properties" Target="/docProps/app.xml" Id="R7e3a1a3038c74634" /><Relationship Type="http://schemas.openxmlformats.org/officeDocument/2006/relationships/officeDocument" Target="/ppt/presentation.xml" Id="R600f73d939bc4d0b" /></Relationships>
</file>

<file path=ppt/presentation.xml><?xml version="1.0" encoding="utf-8"?>
<p:presentation xmlns:p="http://schemas.openxmlformats.org/presentationml/2006/main">
  <p:sldMasterIdLst>
    <p:sldMasterId xmlns:r="http://schemas.openxmlformats.org/officeDocument/2006/relationships" id="2147483648" r:id="R86f1880ef162422a"/>
  </p:sldMasterIdLst>
  <p:notesMasterIdLst>
    <p:notesMasterId xmlns:r="http://schemas.openxmlformats.org/officeDocument/2006/relationships" r:id="R9f988174c1ff4475"/>
  </p:notesMasterIdLst>
  <p:sldIdLst>
    <p:sldId xmlns:r="http://schemas.openxmlformats.org/officeDocument/2006/relationships" id="256" r:id="R01eb2bc2bb2c4c20"/>
    <p:sldId xmlns:r="http://schemas.openxmlformats.org/officeDocument/2006/relationships" id="257" r:id="Rf2b4e9fc7ed34aec"/>
    <p:sldId xmlns:r="http://schemas.openxmlformats.org/officeDocument/2006/relationships" id="258" r:id="R3364694a65924500"/>
    <p:sldId xmlns:r="http://schemas.openxmlformats.org/officeDocument/2006/relationships" id="259" r:id="Rd8bd8eed67e545c3"/>
    <p:sldId xmlns:r="http://schemas.openxmlformats.org/officeDocument/2006/relationships" id="260" r:id="R865508b57fd74aa1"/>
    <p:sldId xmlns:r="http://schemas.openxmlformats.org/officeDocument/2006/relationships" id="261" r:id="R6e6080f1d1224bc0"/>
    <p:sldId xmlns:r="http://schemas.openxmlformats.org/officeDocument/2006/relationships" id="262" r:id="R212468e820584ee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86f1880ef162422a" /><Relationship Type="http://schemas.openxmlformats.org/officeDocument/2006/relationships/theme" Target="/ppt/theme/theme1.xml" Id="R1a6f89b6c59b4a95" /><Relationship Type="http://schemas.openxmlformats.org/officeDocument/2006/relationships/notesMaster" Target="/ppt/notesMasters/notesMaster1.xml" Id="R9f988174c1ff4475" /><Relationship Type="http://schemas.openxmlformats.org/officeDocument/2006/relationships/presProps" Target="/ppt/presProps.xml" Id="Re6a0736cc1ca4e01" /><Relationship Type="http://schemas.openxmlformats.org/officeDocument/2006/relationships/viewProps" Target="/ppt/viewProps.xml" Id="R9ae321398eee475e" /><Relationship Type="http://schemas.openxmlformats.org/officeDocument/2006/relationships/tableStyles" Target="/ppt/tableStyles.xml" Id="Re6dee6b2a7114160" /><Relationship Type="http://schemas.openxmlformats.org/officeDocument/2006/relationships/slide" Target="/ppt/slides/slide1.xml" Id="R01eb2bc2bb2c4c20" /><Relationship Type="http://schemas.openxmlformats.org/officeDocument/2006/relationships/slide" Target="/ppt/slides/slide2.xml" Id="Rf2b4e9fc7ed34aec" /><Relationship Type="http://schemas.openxmlformats.org/officeDocument/2006/relationships/slide" Target="/ppt/slides/slide3.xml" Id="R3364694a65924500" /><Relationship Type="http://schemas.openxmlformats.org/officeDocument/2006/relationships/slide" Target="/ppt/slides/slide4.xml" Id="Rd8bd8eed67e545c3" /><Relationship Type="http://schemas.openxmlformats.org/officeDocument/2006/relationships/slide" Target="/ppt/slides/slide5.xml" Id="R865508b57fd74aa1" /><Relationship Type="http://schemas.openxmlformats.org/officeDocument/2006/relationships/slide" Target="/ppt/slides/slide6.xml" Id="R6e6080f1d1224bc0" /><Relationship Type="http://schemas.openxmlformats.org/officeDocument/2006/relationships/slide" Target="/ppt/slides/slide7.xml" Id="R212468e820584e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7492d5a5510244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0c1d27a25a42c1" /><Relationship Type="http://schemas.openxmlformats.org/officeDocument/2006/relationships/notesMaster" Target="/ppt/notesMasters/notesMaster1.xml" Id="Rffdf1fea32284f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efecc71d084e10" /><Relationship Type="http://schemas.openxmlformats.org/officeDocument/2006/relationships/notesMaster" Target="/ppt/notesMasters/notesMaster1.xml" Id="Ra032270d592048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029683979f4ffd" /><Relationship Type="http://schemas.openxmlformats.org/officeDocument/2006/relationships/notesMaster" Target="/ppt/notesMasters/notesMaster1.xml" Id="R6d84cfb8518444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517b1da86941c3" /><Relationship Type="http://schemas.openxmlformats.org/officeDocument/2006/relationships/notesMaster" Target="/ppt/notesMasters/notesMaster1.xml" Id="Rdd997897b27448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e46ec6fd1a49ae" /><Relationship Type="http://schemas.openxmlformats.org/officeDocument/2006/relationships/notesMaster" Target="/ppt/notesMasters/notesMaster1.xml" Id="R2f6cc917bf8045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487120e60e4653" /><Relationship Type="http://schemas.openxmlformats.org/officeDocument/2006/relationships/notesMaster" Target="/ppt/notesMasters/notesMaster1.xml" Id="R479f718b4f244d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9caaef594e4a06" /><Relationship Type="http://schemas.openxmlformats.org/officeDocument/2006/relationships/notesMaster" Target="/ppt/notesMasters/notesMaster1.xml" Id="R51f6c75666ec44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research question. This is not claiming the original paper is wrong. The question is whether a published option-implied return predictor still works in a later sample and under an executable timing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the exact spread, since it is easy to confuse this with the standard ATM call-minus-put skew. The paper variable is OTM put IV minus ATM call IV.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pipeline quickly. The key design choices are risk-free excess returns and non-overlapping multi-day returns. The big caveat is no volume or open interest.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key statistical slide. The coefficient direction is what the paper would predict, but the evidence is too weak to call it a successful replication in this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it can look good during downturns. The signal tends to send the strategy toward cash when downside insurance is expensive. That helps in corrections, but it can also miss rebounds.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trading interpretation slide. A p-value is not the same thing as a trade. A statistically real effect can be untradable, and a weak effect can still be a useful risk-control input, but only if it is robust and executable.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avoiding overclaiming. The fair conclusion is not that the paper is wrong, but that the later-sample evidence is weaker and the trade is harder to execute cleanly with this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f0a4f593575435d"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fbd7b5c0250b4b23" /><Relationship Type="http://schemas.openxmlformats.org/officeDocument/2006/relationships/slideLayout" Target="/ppt/slideLayouts/slideLayout2.xml" Id="R84356ed9c0fd48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356ed9c0fd48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40bb603aac3a4c0a" /><Relationship Type="http://schemas.openxmlformats.org/officeDocument/2006/relationships/notesSlide" Target="/ppt/notesSlides/notesSlide1.xml" Id="R70ea67dcb3ca42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f9ab30ada94439e" /><Relationship Type="http://schemas.openxmlformats.org/officeDocument/2006/relationships/notesSlide" Target="/ppt/notesSlides/notesSlide2.xml" Id="R604b0c19d77d4d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b0f6318ef11438d" /><Relationship Type="http://schemas.openxmlformats.org/officeDocument/2006/relationships/notesSlide" Target="/ppt/notesSlides/notesSlide3.xml" Id="R9a22c7b8dc8a4d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d9ce105a917f4024" /><Relationship Type="http://schemas.openxmlformats.org/officeDocument/2006/relationships/notesSlide" Target="/ppt/notesSlides/notesSlide4.xml" Id="Rdeedf9a16faa41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da5dd2dcf1684089" /><Relationship Type="http://schemas.openxmlformats.org/officeDocument/2006/relationships/notesSlide" Target="/ppt/notesSlides/notesSlide5.xml" Id="R7fa64e0bf2ee4f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dd62b49d4c294b91" /><Relationship Type="http://schemas.openxmlformats.org/officeDocument/2006/relationships/notesSlide" Target="/ppt/notesSlides/notesSlide6.xml" Id="R6ccdaacb07f546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448b7d85e9164948" /><Relationship Type="http://schemas.openxmlformats.org/officeDocument/2006/relationships/notesSlide" Target="/ppt/notesSlides/notesSlide7.xml" Id="Rc9ea36cfd0194d5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AABE064-6016-4B0B-ADD0-E3C7E0990DA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ln>
        </p:spPr>
      </p:sp>
      <p:sp>
        <p:nvSpPr>
          <p:cNvPr id="2" name="">
            <a:extLst xmlns:a="http://schemas.openxmlformats.org/drawingml/2006/main">
              <a:ext uri="{FF2B5EF4-FFF2-40B4-BE49-F238E27FC236}">
                <a16:creationId xmlns:a16="http://schemas.microsoft.com/office/drawing/2014/main" id="{2FCAF998-F052-4B65-B59A-0D4D8A3E0862}"/>
              </a:ext>
            </a:extLst>
          </p:cNvPr>
          <p:cNvSpPr>
            <a:spLocks xmlns:a="http://schemas.openxmlformats.org/drawingml/2006/main" noGrp="1"/>
          </p:cNvSpPr>
          <p:nvPr/>
        </p:nvSpPr>
        <p:spPr>
          <a:xfrm xmlns:a="http://schemas.openxmlformats.org/drawingml/2006/main">
            <a:off x="514350" y="419100"/>
            <a:ext cx="5619750" cy="2476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975" b="1">
                <a:solidFill>
                  <a:srgbClr val="C2410C"/>
                </a:solidFill>
                <a:latin typeface="Arial"/>
                <a:ea typeface="Arial"/>
                <a:cs typeface="Arial"/>
              </a:defRPr>
            </a:pPr>
            <a:r>
              <a:rPr sz="975" b="1">
                <a:solidFill>
                  <a:srgbClr val="C2410C"/>
                </a:solidFill>
                <a:latin typeface="Arial"/>
                <a:ea typeface="Arial"/>
                <a:cs typeface="Arial"/>
              </a:rPr>
              <a:t>CAN A PUBLISHED OPTION SIGNAL SURVIVE OUT-OF-SAMPLE?</a:t>
            </a:r>
          </a:p>
        </p:txBody>
      </p:sp>
      <p:sp>
        <p:nvSpPr>
          <p:cNvPr id="3" name="">
            <a:extLst xmlns:a="http://schemas.openxmlformats.org/drawingml/2006/main">
              <a:ext uri="{FF2B5EF4-FFF2-40B4-BE49-F238E27FC236}">
                <a16:creationId xmlns:a16="http://schemas.microsoft.com/office/drawing/2014/main" id="{71730981-7B47-4686-8428-6E179FCB6A89}"/>
              </a:ext>
            </a:extLst>
          </p:cNvPr>
          <p:cNvSpPr>
            <a:spLocks xmlns:a="http://schemas.openxmlformats.org/drawingml/2006/main" noGrp="1"/>
          </p:cNvSpPr>
          <p:nvPr/>
        </p:nvSpPr>
        <p:spPr>
          <a:xfrm xmlns:a="http://schemas.openxmlformats.org/drawingml/2006/main">
            <a:off x="457200" y="952500"/>
            <a:ext cx="8096250" cy="14287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4050" b="1">
                <a:solidFill>
                  <a:srgbClr val="172033"/>
                </a:solidFill>
                <a:latin typeface="Arial"/>
                <a:ea typeface="Arial"/>
                <a:cs typeface="Arial"/>
              </a:defRPr>
            </a:pPr>
            <a:r>
              <a:rPr sz="4050" b="1">
                <a:solidFill>
                  <a:srgbClr val="172033"/>
                </a:solidFill>
                <a:latin typeface="Arial"/>
                <a:ea typeface="Arial"/>
                <a:cs typeface="Arial"/>
              </a:rPr>
              <a:t>The IV-spread edge looks weaker in the newer sample.</a:t>
            </a:r>
          </a:p>
        </p:txBody>
      </p:sp>
      <p:sp>
        <p:nvSpPr>
          <p:cNvPr id="4" name="">
            <a:extLst xmlns:a="http://schemas.openxmlformats.org/drawingml/2006/main">
              <a:ext uri="{FF2B5EF4-FFF2-40B4-BE49-F238E27FC236}">
                <a16:creationId xmlns:a16="http://schemas.microsoft.com/office/drawing/2014/main" id="{556E53CE-9A0E-4F71-A057-4907A726994B}"/>
              </a:ext>
            </a:extLst>
          </p:cNvPr>
          <p:cNvSpPr>
            <a:spLocks xmlns:a="http://schemas.openxmlformats.org/drawingml/2006/main" noGrp="1"/>
          </p:cNvSpPr>
          <p:nvPr/>
        </p:nvSpPr>
        <p:spPr>
          <a:xfrm xmlns:a="http://schemas.openxmlformats.org/drawingml/2006/main">
            <a:off x="495300" y="2647950"/>
            <a:ext cx="7239000" cy="68580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1650" b="0">
                <a:solidFill>
                  <a:srgbClr val="334155"/>
                </a:solidFill>
                <a:latin typeface="Arial"/>
                <a:ea typeface="Arial"/>
                <a:cs typeface="Arial"/>
              </a:defRPr>
            </a:pPr>
            <a:r>
              <a:rPr sz="1650" b="0">
                <a:solidFill>
                  <a:srgbClr val="334155"/>
                </a:solidFill>
                <a:latin typeface="Arial"/>
                <a:ea typeface="Arial"/>
                <a:cs typeface="Arial"/>
              </a:rPr>
              <a:t>Replication of Atilgan, Bali, and Demirtas (2015): OTM put IV minus ATM call IV as a predictor of future S&amp;P 500 returns.</a:t>
            </a:r>
          </a:p>
        </p:txBody>
      </p:sp>
      <p:sp>
        <p:nvSpPr>
          <p:cNvPr id="5" name="">
            <a:extLst xmlns:a="http://schemas.openxmlformats.org/drawingml/2006/main">
              <a:ext uri="{FF2B5EF4-FFF2-40B4-BE49-F238E27FC236}">
                <a16:creationId xmlns:a16="http://schemas.microsoft.com/office/drawing/2014/main" id="{76487825-12D8-4D08-BDF8-4621035C4E57}"/>
              </a:ext>
            </a:extLst>
          </p:cNvPr>
          <p:cNvSpPr>
            <a:spLocks xmlns:a="http://schemas.openxmlformats.org/drawingml/2006/main" noGrp="1"/>
          </p:cNvSpPr>
          <p:nvPr/>
        </p:nvSpPr>
        <p:spPr>
          <a:xfrm xmlns:a="http://schemas.openxmlformats.org/drawingml/2006/main">
            <a:off x="495300" y="4114800"/>
            <a:ext cx="3143250" cy="91440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6" name="">
            <a:extLst xmlns:a="http://schemas.openxmlformats.org/drawingml/2006/main">
              <a:ext uri="{FF2B5EF4-FFF2-40B4-BE49-F238E27FC236}">
                <a16:creationId xmlns:a16="http://schemas.microsoft.com/office/drawing/2014/main" id="{1C36CB51-E3EC-42AA-868F-D4873DF4401D}"/>
              </a:ext>
            </a:extLst>
          </p:cNvPr>
          <p:cNvSpPr>
            <a:spLocks xmlns:a="http://schemas.openxmlformats.org/drawingml/2006/main" noGrp="1"/>
          </p:cNvSpPr>
          <p:nvPr/>
        </p:nvSpPr>
        <p:spPr>
          <a:xfrm xmlns:a="http://schemas.openxmlformats.org/drawingml/2006/main">
            <a:off x="647700" y="4248150"/>
            <a:ext cx="2838450" cy="1714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825" b="1">
                <a:solidFill>
                  <a:srgbClr val="64748B"/>
                </a:solidFill>
                <a:latin typeface="Arial"/>
                <a:ea typeface="Arial"/>
                <a:cs typeface="Arial"/>
              </a:defRPr>
            </a:pPr>
            <a:r>
              <a:rPr sz="825" b="1">
                <a:solidFill>
                  <a:srgbClr val="64748B"/>
                </a:solidFill>
                <a:latin typeface="Arial"/>
                <a:ea typeface="Arial"/>
                <a:cs typeface="Arial"/>
              </a:rPr>
              <a:t>SAMPLE</a:t>
            </a:r>
          </a:p>
        </p:txBody>
      </p:sp>
      <p:sp>
        <p:nvSpPr>
          <p:cNvPr id="7" name="">
            <a:extLst xmlns:a="http://schemas.openxmlformats.org/drawingml/2006/main">
              <a:ext uri="{FF2B5EF4-FFF2-40B4-BE49-F238E27FC236}">
                <a16:creationId xmlns:a16="http://schemas.microsoft.com/office/drawing/2014/main" id="{BBF59B50-5EA4-4414-91D0-BFFC6EDE4A9B}"/>
              </a:ext>
            </a:extLst>
          </p:cNvPr>
          <p:cNvSpPr>
            <a:spLocks xmlns:a="http://schemas.openxmlformats.org/drawingml/2006/main" noGrp="1"/>
          </p:cNvSpPr>
          <p:nvPr/>
        </p:nvSpPr>
        <p:spPr>
          <a:xfrm xmlns:a="http://schemas.openxmlformats.org/drawingml/2006/main">
            <a:off x="647700" y="4495800"/>
            <a:ext cx="2838450" cy="3810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2250" b="1">
                <a:solidFill>
                  <a:srgbClr val="172033"/>
                </a:solidFill>
                <a:latin typeface="Arial"/>
                <a:ea typeface="Arial"/>
                <a:cs typeface="Arial"/>
              </a:defRPr>
            </a:pPr>
            <a:r>
              <a:rPr sz="2250" b="1">
                <a:solidFill>
                  <a:srgbClr val="172033"/>
                </a:solidFill>
                <a:latin typeface="Arial"/>
                <a:ea typeface="Arial"/>
                <a:cs typeface="Arial"/>
              </a:rPr>
              <a:t>2017-2021</a:t>
            </a:r>
          </a:p>
        </p:txBody>
      </p:sp>
      <p:sp>
        <p:nvSpPr>
          <p:cNvPr id="8" name="">
            <a:extLst xmlns:a="http://schemas.openxmlformats.org/drawingml/2006/main">
              <a:ext uri="{FF2B5EF4-FFF2-40B4-BE49-F238E27FC236}">
                <a16:creationId xmlns:a16="http://schemas.microsoft.com/office/drawing/2014/main" id="{71012836-245C-43DA-B5FA-9A8379684E06}"/>
              </a:ext>
            </a:extLst>
          </p:cNvPr>
          <p:cNvSpPr>
            <a:spLocks xmlns:a="http://schemas.openxmlformats.org/drawingml/2006/main" noGrp="1"/>
          </p:cNvSpPr>
          <p:nvPr/>
        </p:nvSpPr>
        <p:spPr>
          <a:xfrm xmlns:a="http://schemas.openxmlformats.org/drawingml/2006/main">
            <a:off x="3905250" y="4114800"/>
            <a:ext cx="1809750" cy="91440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9" name="">
            <a:extLst xmlns:a="http://schemas.openxmlformats.org/drawingml/2006/main">
              <a:ext uri="{FF2B5EF4-FFF2-40B4-BE49-F238E27FC236}">
                <a16:creationId xmlns:a16="http://schemas.microsoft.com/office/drawing/2014/main" id="{A63F0881-EB29-43E1-B5CF-672FEB50C430}"/>
              </a:ext>
            </a:extLst>
          </p:cNvPr>
          <p:cNvSpPr>
            <a:spLocks xmlns:a="http://schemas.openxmlformats.org/drawingml/2006/main" noGrp="1"/>
          </p:cNvSpPr>
          <p:nvPr/>
        </p:nvSpPr>
        <p:spPr>
          <a:xfrm xmlns:a="http://schemas.openxmlformats.org/drawingml/2006/main">
            <a:off x="4057650" y="4248150"/>
            <a:ext cx="1504950" cy="1714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825" b="1">
                <a:solidFill>
                  <a:srgbClr val="64748B"/>
                </a:solidFill>
                <a:latin typeface="Arial"/>
                <a:ea typeface="Arial"/>
                <a:cs typeface="Arial"/>
              </a:defRPr>
            </a:pPr>
            <a:r>
              <a:rPr sz="825" b="1">
                <a:solidFill>
                  <a:srgbClr val="64748B"/>
                </a:solidFill>
                <a:latin typeface="Arial"/>
                <a:ea typeface="Arial"/>
                <a:cs typeface="Arial"/>
              </a:rPr>
              <a:t>TRADING DAYS</a:t>
            </a:r>
          </a:p>
        </p:txBody>
      </p:sp>
      <p:sp>
        <p:nvSpPr>
          <p:cNvPr id="10" name="">
            <a:extLst xmlns:a="http://schemas.openxmlformats.org/drawingml/2006/main">
              <a:ext uri="{FF2B5EF4-FFF2-40B4-BE49-F238E27FC236}">
                <a16:creationId xmlns:a16="http://schemas.microsoft.com/office/drawing/2014/main" id="{13DA91B2-DBA3-4C06-82CA-889FE6BFE390}"/>
              </a:ext>
            </a:extLst>
          </p:cNvPr>
          <p:cNvSpPr>
            <a:spLocks xmlns:a="http://schemas.openxmlformats.org/drawingml/2006/main" noGrp="1"/>
          </p:cNvSpPr>
          <p:nvPr/>
        </p:nvSpPr>
        <p:spPr>
          <a:xfrm xmlns:a="http://schemas.openxmlformats.org/drawingml/2006/main">
            <a:off x="4057650" y="4495800"/>
            <a:ext cx="1504950" cy="3810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2250" b="1">
                <a:solidFill>
                  <a:srgbClr val="0F766E"/>
                </a:solidFill>
                <a:latin typeface="Arial"/>
                <a:ea typeface="Arial"/>
                <a:cs typeface="Arial"/>
              </a:defRPr>
            </a:pPr>
            <a:r>
              <a:rPr sz="2250" b="1">
                <a:solidFill>
                  <a:srgbClr val="0F766E"/>
                </a:solidFill>
                <a:latin typeface="Arial"/>
                <a:ea typeface="Arial"/>
                <a:cs typeface="Arial"/>
              </a:rPr>
              <a:t>1,259</a:t>
            </a:r>
          </a:p>
        </p:txBody>
      </p:sp>
      <p:sp>
        <p:nvSpPr>
          <p:cNvPr id="11" name="">
            <a:extLst xmlns:a="http://schemas.openxmlformats.org/drawingml/2006/main">
              <a:ext uri="{FF2B5EF4-FFF2-40B4-BE49-F238E27FC236}">
                <a16:creationId xmlns:a16="http://schemas.microsoft.com/office/drawing/2014/main" id="{809E78A3-699A-4F94-B8A8-7DDFF6FDF570}"/>
              </a:ext>
            </a:extLst>
          </p:cNvPr>
          <p:cNvSpPr>
            <a:spLocks xmlns:a="http://schemas.openxmlformats.org/drawingml/2006/main" noGrp="1"/>
          </p:cNvSpPr>
          <p:nvPr/>
        </p:nvSpPr>
        <p:spPr>
          <a:xfrm xmlns:a="http://schemas.openxmlformats.org/drawingml/2006/main">
            <a:off x="5981700" y="4114800"/>
            <a:ext cx="1809750" cy="91440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12" name="">
            <a:extLst xmlns:a="http://schemas.openxmlformats.org/drawingml/2006/main">
              <a:ext uri="{FF2B5EF4-FFF2-40B4-BE49-F238E27FC236}">
                <a16:creationId xmlns:a16="http://schemas.microsoft.com/office/drawing/2014/main" id="{E9D50247-7173-4EBC-B8DC-FB5BB6569AA7}"/>
              </a:ext>
            </a:extLst>
          </p:cNvPr>
          <p:cNvSpPr>
            <a:spLocks xmlns:a="http://schemas.openxmlformats.org/drawingml/2006/main" noGrp="1"/>
          </p:cNvSpPr>
          <p:nvPr/>
        </p:nvSpPr>
        <p:spPr>
          <a:xfrm xmlns:a="http://schemas.openxmlformats.org/drawingml/2006/main">
            <a:off x="6134100" y="4248150"/>
            <a:ext cx="1504950" cy="1714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825" b="1">
                <a:solidFill>
                  <a:srgbClr val="64748B"/>
                </a:solidFill>
                <a:latin typeface="Arial"/>
                <a:ea typeface="Arial"/>
                <a:cs typeface="Arial"/>
              </a:defRPr>
            </a:pPr>
            <a:r>
              <a:rPr sz="825" b="1">
                <a:solidFill>
                  <a:srgbClr val="64748B"/>
                </a:solidFill>
                <a:latin typeface="Arial"/>
                <a:ea typeface="Arial"/>
                <a:cs typeface="Arial"/>
              </a:rPr>
              <a:t>MAIN 1D T-STAT</a:t>
            </a:r>
          </a:p>
        </p:txBody>
      </p:sp>
      <p:sp>
        <p:nvSpPr>
          <p:cNvPr id="13" name="">
            <a:extLst xmlns:a="http://schemas.openxmlformats.org/drawingml/2006/main">
              <a:ext uri="{FF2B5EF4-FFF2-40B4-BE49-F238E27FC236}">
                <a16:creationId xmlns:a16="http://schemas.microsoft.com/office/drawing/2014/main" id="{5A0BF7C6-A305-4CB3-B208-42217015496C}"/>
              </a:ext>
            </a:extLst>
          </p:cNvPr>
          <p:cNvSpPr>
            <a:spLocks xmlns:a="http://schemas.openxmlformats.org/drawingml/2006/main" noGrp="1"/>
          </p:cNvSpPr>
          <p:nvPr/>
        </p:nvSpPr>
        <p:spPr>
          <a:xfrm xmlns:a="http://schemas.openxmlformats.org/drawingml/2006/main">
            <a:off x="6134100" y="4495800"/>
            <a:ext cx="1504950" cy="3810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2250" b="1">
                <a:solidFill>
                  <a:srgbClr val="C2410C"/>
                </a:solidFill>
                <a:latin typeface="Arial"/>
                <a:ea typeface="Arial"/>
                <a:cs typeface="Arial"/>
              </a:defRPr>
            </a:pPr>
            <a:r>
              <a:rPr sz="2250" b="1">
                <a:solidFill>
                  <a:srgbClr val="C2410C"/>
                </a:solidFill>
                <a:latin typeface="Arial"/>
                <a:ea typeface="Arial"/>
                <a:cs typeface="Arial"/>
              </a:rPr>
              <a:t>-1.55</a:t>
            </a:r>
          </a:p>
        </p:txBody>
      </p:sp>
      <p:sp>
        <p:nvSpPr>
          <p:cNvPr id="14" name="">
            <a:extLst xmlns:a="http://schemas.openxmlformats.org/drawingml/2006/main">
              <a:ext uri="{FF2B5EF4-FFF2-40B4-BE49-F238E27FC236}">
                <a16:creationId xmlns:a16="http://schemas.microsoft.com/office/drawing/2014/main" id="{30AAB84E-185F-45E9-9AC1-4EA0EF7204B1}"/>
              </a:ext>
            </a:extLst>
          </p:cNvPr>
          <p:cNvSpPr>
            <a:spLocks xmlns:a="http://schemas.openxmlformats.org/drawingml/2006/main" noGrp="1"/>
          </p:cNvSpPr>
          <p:nvPr/>
        </p:nvSpPr>
        <p:spPr>
          <a:xfrm xmlns:a="http://schemas.openxmlformats.org/drawingml/2006/main">
            <a:off x="8058150" y="4114800"/>
            <a:ext cx="1809750" cy="91440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15" name="">
            <a:extLst xmlns:a="http://schemas.openxmlformats.org/drawingml/2006/main">
              <a:ext uri="{FF2B5EF4-FFF2-40B4-BE49-F238E27FC236}">
                <a16:creationId xmlns:a16="http://schemas.microsoft.com/office/drawing/2014/main" id="{1B3C2559-BFCE-413D-B89B-4B0BF1799178}"/>
              </a:ext>
            </a:extLst>
          </p:cNvPr>
          <p:cNvSpPr>
            <a:spLocks xmlns:a="http://schemas.openxmlformats.org/drawingml/2006/main" noGrp="1"/>
          </p:cNvSpPr>
          <p:nvPr/>
        </p:nvSpPr>
        <p:spPr>
          <a:xfrm xmlns:a="http://schemas.openxmlformats.org/drawingml/2006/main">
            <a:off x="8210550" y="4248150"/>
            <a:ext cx="1504950" cy="1714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825" b="1">
                <a:solidFill>
                  <a:srgbClr val="64748B"/>
                </a:solidFill>
                <a:latin typeface="Arial"/>
                <a:ea typeface="Arial"/>
                <a:cs typeface="Arial"/>
              </a:defRPr>
            </a:pPr>
            <a:r>
              <a:rPr sz="825" b="1">
                <a:solidFill>
                  <a:srgbClr val="64748B"/>
                </a:solidFill>
                <a:latin typeface="Arial"/>
                <a:ea typeface="Arial"/>
                <a:cs typeface="Arial"/>
              </a:rPr>
              <a:t>OOS NET $100</a:t>
            </a:r>
          </a:p>
        </p:txBody>
      </p:sp>
      <p:sp>
        <p:nvSpPr>
          <p:cNvPr id="16" name="">
            <a:extLst xmlns:a="http://schemas.openxmlformats.org/drawingml/2006/main">
              <a:ext uri="{FF2B5EF4-FFF2-40B4-BE49-F238E27FC236}">
                <a16:creationId xmlns:a16="http://schemas.microsoft.com/office/drawing/2014/main" id="{A2285095-FC51-4678-8D4A-73CA2490A7FE}"/>
              </a:ext>
            </a:extLst>
          </p:cNvPr>
          <p:cNvSpPr>
            <a:spLocks xmlns:a="http://schemas.openxmlformats.org/drawingml/2006/main" noGrp="1"/>
          </p:cNvSpPr>
          <p:nvPr/>
        </p:nvSpPr>
        <p:spPr>
          <a:xfrm xmlns:a="http://schemas.openxmlformats.org/drawingml/2006/main">
            <a:off x="8210550" y="4495800"/>
            <a:ext cx="1504950" cy="3810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2250" b="1">
                <a:solidFill>
                  <a:srgbClr val="0F766E"/>
                </a:solidFill>
                <a:latin typeface="Arial"/>
                <a:ea typeface="Arial"/>
                <a:cs typeface="Arial"/>
              </a:defRPr>
            </a:pPr>
            <a:r>
              <a:rPr sz="2250" b="1">
                <a:solidFill>
                  <a:srgbClr val="0F766E"/>
                </a:solidFill>
                <a:latin typeface="Arial"/>
                <a:ea typeface="Arial"/>
                <a:cs typeface="Arial"/>
              </a:rPr>
              <a:t>$139.0</a:t>
            </a:r>
          </a:p>
        </p:txBody>
      </p:sp>
      <p:sp>
        <p:nvSpPr>
          <p:cNvPr id="17" name="">
            <a:extLst xmlns:a="http://schemas.openxmlformats.org/drawingml/2006/main">
              <a:ext uri="{FF2B5EF4-FFF2-40B4-BE49-F238E27FC236}">
                <a16:creationId xmlns:a16="http://schemas.microsoft.com/office/drawing/2014/main" id="{53861B7C-BBBE-4AD2-9DDE-C59AE5AFE412}"/>
              </a:ext>
            </a:extLst>
          </p:cNvPr>
          <p:cNvSpPr>
            <a:spLocks xmlns:a="http://schemas.openxmlformats.org/drawingml/2006/main" noGrp="1"/>
          </p:cNvSpPr>
          <p:nvPr/>
        </p:nvSpPr>
        <p:spPr>
          <a:xfrm xmlns:a="http://schemas.openxmlformats.org/drawingml/2006/main">
            <a:off x="10134600" y="4114800"/>
            <a:ext cx="1619250" cy="91440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18" name="">
            <a:extLst xmlns:a="http://schemas.openxmlformats.org/drawingml/2006/main">
              <a:ext uri="{FF2B5EF4-FFF2-40B4-BE49-F238E27FC236}">
                <a16:creationId xmlns:a16="http://schemas.microsoft.com/office/drawing/2014/main" id="{9C338247-261C-4D3F-899C-916132C23412}"/>
              </a:ext>
            </a:extLst>
          </p:cNvPr>
          <p:cNvSpPr>
            <a:spLocks xmlns:a="http://schemas.openxmlformats.org/drawingml/2006/main" noGrp="1"/>
          </p:cNvSpPr>
          <p:nvPr/>
        </p:nvSpPr>
        <p:spPr>
          <a:xfrm xmlns:a="http://schemas.openxmlformats.org/drawingml/2006/main">
            <a:off x="10287000" y="4248150"/>
            <a:ext cx="1314450" cy="1714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825" b="1">
                <a:solidFill>
                  <a:srgbClr val="64748B"/>
                </a:solidFill>
                <a:latin typeface="Arial"/>
                <a:ea typeface="Arial"/>
                <a:cs typeface="Arial"/>
              </a:defRPr>
            </a:pPr>
            <a:r>
              <a:rPr sz="825" b="1">
                <a:solidFill>
                  <a:srgbClr val="64748B"/>
                </a:solidFill>
                <a:latin typeface="Arial"/>
                <a:ea typeface="Arial"/>
                <a:cs typeface="Arial"/>
              </a:rPr>
              <a:t>BUY-HOLD $100</a:t>
            </a:r>
          </a:p>
        </p:txBody>
      </p:sp>
      <p:sp>
        <p:nvSpPr>
          <p:cNvPr id="19" name="">
            <a:extLst xmlns:a="http://schemas.openxmlformats.org/drawingml/2006/main">
              <a:ext uri="{FF2B5EF4-FFF2-40B4-BE49-F238E27FC236}">
                <a16:creationId xmlns:a16="http://schemas.microsoft.com/office/drawing/2014/main" id="{774B628A-FA61-4C57-B722-8640FE2A62B4}"/>
              </a:ext>
            </a:extLst>
          </p:cNvPr>
          <p:cNvSpPr>
            <a:spLocks xmlns:a="http://schemas.openxmlformats.org/drawingml/2006/main" noGrp="1"/>
          </p:cNvSpPr>
          <p:nvPr/>
        </p:nvSpPr>
        <p:spPr>
          <a:xfrm xmlns:a="http://schemas.openxmlformats.org/drawingml/2006/main">
            <a:off x="10287000" y="4495800"/>
            <a:ext cx="1314450" cy="3810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2250" b="1">
                <a:solidFill>
                  <a:srgbClr val="1D4ED8"/>
                </a:solidFill>
                <a:latin typeface="Arial"/>
                <a:ea typeface="Arial"/>
                <a:cs typeface="Arial"/>
              </a:defRPr>
            </a:pPr>
            <a:r>
              <a:rPr sz="2250" b="1">
                <a:solidFill>
                  <a:srgbClr val="1D4ED8"/>
                </a:solidFill>
                <a:latin typeface="Arial"/>
                <a:ea typeface="Arial"/>
                <a:cs typeface="Arial"/>
              </a:rPr>
              <a:t>$159.8</a:t>
            </a:r>
          </a:p>
        </p:txBody>
      </p:sp>
      <p:sp>
        <p:nvSpPr>
          <p:cNvPr id="20" name="">
            <a:extLst xmlns:a="http://schemas.openxmlformats.org/drawingml/2006/main">
              <a:ext uri="{FF2B5EF4-FFF2-40B4-BE49-F238E27FC236}">
                <a16:creationId xmlns:a16="http://schemas.microsoft.com/office/drawing/2014/main" id="{82C3C47C-352C-4474-BAFD-756508BC4145}"/>
              </a:ext>
            </a:extLst>
          </p:cNvPr>
          <p:cNvSpPr>
            <a:spLocks xmlns:a="http://schemas.openxmlformats.org/drawingml/2006/main" noGrp="1"/>
          </p:cNvSpPr>
          <p:nvPr/>
        </p:nvSpPr>
        <p:spPr>
          <a:xfrm xmlns:a="http://schemas.openxmlformats.org/drawingml/2006/main">
            <a:off x="495300" y="5572125"/>
            <a:ext cx="8477250" cy="4381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1950" b="1">
                <a:solidFill>
                  <a:srgbClr val="172033"/>
                </a:solidFill>
                <a:latin typeface="Arial"/>
                <a:ea typeface="Arial"/>
                <a:cs typeface="Arial"/>
              </a:defRPr>
            </a:pPr>
            <a:r>
              <a:rPr sz="1950" b="1">
                <a:solidFill>
                  <a:srgbClr val="172033"/>
                </a:solidFill>
                <a:latin typeface="Arial"/>
                <a:ea typeface="Arial"/>
                <a:cs typeface="Arial"/>
              </a:rPr>
              <a:t>Fair read: the intuition survives better than the alpha.</a:t>
            </a:r>
          </a:p>
        </p:txBody>
      </p:sp>
      <p:sp>
        <p:nvSpPr>
          <p:cNvPr id="21" name="">
            <a:extLst xmlns:a="http://schemas.openxmlformats.org/drawingml/2006/main">
              <a:ext uri="{FF2B5EF4-FFF2-40B4-BE49-F238E27FC236}">
                <a16:creationId xmlns:a16="http://schemas.microsoft.com/office/drawing/2014/main" id="{3FA0F9BE-9AF1-47C3-B887-6C6159D09EA1}"/>
              </a:ext>
            </a:extLst>
          </p:cNvPr>
          <p:cNvSpPr>
            <a:spLocks xmlns:a="http://schemas.openxmlformats.org/drawingml/2006/main" noGrp="1"/>
          </p:cNvSpPr>
          <p:nvPr/>
        </p:nvSpPr>
        <p:spPr>
          <a:xfrm xmlns:a="http://schemas.openxmlformats.org/drawingml/2006/main">
            <a:off x="457200" y="6496050"/>
            <a:ext cx="8382000" cy="2095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750" b="0">
                <a:solidFill>
                  <a:srgbClr val="64748B"/>
                </a:solidFill>
                <a:latin typeface="Arial"/>
                <a:ea typeface="Arial"/>
                <a:cs typeface="Arial"/>
              </a:defRPr>
            </a:pPr>
            <a:r>
              <a:rPr sz="750" b="0">
                <a:solidFill>
                  <a:srgbClr val="64748B"/>
                </a:solidFill>
                <a:latin typeface="Arial"/>
                <a:ea typeface="Arial"/>
                <a:cs typeface="Arial"/>
              </a:rPr>
              <a:t>Source: local replication of Atilgan, Bali, and Demirtas (2015) signal on OptionDataNM2026.csv</a:t>
            </a:r>
          </a:p>
        </p:txBody>
      </p:sp>
      <p:sp>
        <p:nvSpPr>
          <p:cNvPr id="22" name="">
            <a:extLst xmlns:a="http://schemas.openxmlformats.org/drawingml/2006/main">
              <a:ext uri="{FF2B5EF4-FFF2-40B4-BE49-F238E27FC236}">
                <a16:creationId xmlns:a16="http://schemas.microsoft.com/office/drawing/2014/main" id="{77F24FC9-87B6-437C-B636-5DC3FF5205DA}"/>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sz="750" b="0">
                <a:solidFill>
                  <a:srgbClr val="64748B"/>
                </a:solidFill>
                <a:latin typeface="Arial"/>
                <a:ea typeface="Arial"/>
                <a:cs typeface="Arial"/>
              </a:defRPr>
            </a:pPr>
            <a:r>
              <a:rPr sz="750" b="0">
                <a:solidFill>
                  <a:srgbClr val="64748B"/>
                </a:solidFill>
                <a:latin typeface="Arial"/>
                <a:ea typeface="Arial"/>
                <a:cs typeface="Arial"/>
              </a:rPr>
              <a:t>1</a:t>
            </a:r>
          </a:p>
        </p:txBody>
      </p:sp>
    </p:spTree>
    <p:extLst>
      <p:ext uri="{BB962C8B-B14F-4D97-AF65-F5344CB8AC3E}">
        <p14:creationId xmlns:p14="http://schemas.microsoft.com/office/powerpoint/2010/main" val="8500662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7E3B95-CD98-4AE8-BC87-734153A9290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ln>
        </p:spPr>
      </p:sp>
      <p:sp>
        <p:nvSpPr>
          <p:cNvPr id="2" name="">
            <a:extLst xmlns:a="http://schemas.openxmlformats.org/drawingml/2006/main">
              <a:ext uri="{FF2B5EF4-FFF2-40B4-BE49-F238E27FC236}">
                <a16:creationId xmlns:a16="http://schemas.microsoft.com/office/drawing/2014/main" id="{252D0365-DEE8-4ABE-9615-09D0772575BF}"/>
              </a:ext>
            </a:extLst>
          </p:cNvPr>
          <p:cNvSpPr>
            <a:spLocks xmlns:a="http://schemas.openxmlformats.org/drawingml/2006/main" noGrp="1"/>
          </p:cNvSpPr>
          <p:nvPr/>
        </p:nvSpPr>
        <p:spPr>
          <a:xfrm xmlns:a="http://schemas.openxmlformats.org/drawingml/2006/main">
            <a:off x="514350" y="323850"/>
            <a:ext cx="3048000" cy="26670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38100" rIns="0" bIns="0">
            <a:normAutofit fontScale="100000"/>
          </a:bodyPr>
          <a:lstStyle xmlns:a="http://schemas.openxmlformats.org/drawingml/2006/main"/>
          <a:p xmlns:a="http://schemas.openxmlformats.org/drawingml/2006/main">
            <a:pPr algn="l">
              <a:defRPr sz="975" b="1">
                <a:solidFill>
                  <a:srgbClr val="C2410C"/>
                </a:solidFill>
                <a:latin typeface="Arial"/>
                <a:ea typeface="Arial"/>
                <a:cs typeface="Arial"/>
              </a:defRPr>
            </a:pPr>
            <a:r>
              <a:rPr sz="975" b="1">
                <a:solidFill>
                  <a:srgbClr val="C2410C"/>
                </a:solidFill>
                <a:latin typeface="Arial"/>
                <a:ea typeface="Arial"/>
                <a:cs typeface="Arial"/>
              </a:rPr>
              <a:t>SIGNAL DEFINITION</a:t>
            </a:r>
          </a:p>
        </p:txBody>
      </p:sp>
      <p:sp>
        <p:nvSpPr>
          <p:cNvPr id="3" name="">
            <a:extLst xmlns:a="http://schemas.openxmlformats.org/drawingml/2006/main">
              <a:ext uri="{FF2B5EF4-FFF2-40B4-BE49-F238E27FC236}">
                <a16:creationId xmlns:a16="http://schemas.microsoft.com/office/drawing/2014/main" id="{A2AEFDF0-FAD8-419D-80A8-F1828F033291}"/>
              </a:ext>
            </a:extLst>
          </p:cNvPr>
          <p:cNvSpPr>
            <a:spLocks xmlns:a="http://schemas.openxmlformats.org/drawingml/2006/main" noGrp="1"/>
          </p:cNvSpPr>
          <p:nvPr/>
        </p:nvSpPr>
        <p:spPr>
          <a:xfrm xmlns:a="http://schemas.openxmlformats.org/drawingml/2006/main">
            <a:off x="457200" y="628650"/>
            <a:ext cx="8858250" cy="91440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3000" b="1">
                <a:solidFill>
                  <a:srgbClr val="172033"/>
                </a:solidFill>
                <a:latin typeface="Arial"/>
                <a:ea typeface="Arial"/>
                <a:cs typeface="Arial"/>
              </a:defRPr>
            </a:pPr>
            <a:r>
              <a:rPr sz="3000" b="1">
                <a:solidFill>
                  <a:srgbClr val="172033"/>
                </a:solidFill>
                <a:latin typeface="Arial"/>
                <a:ea typeface="Arial"/>
                <a:cs typeface="Arial"/>
              </a:rPr>
              <a:t>The paper signal is downside-insurance IV minus at-the-money call IV.</a:t>
            </a:r>
          </a:p>
        </p:txBody>
      </p:sp>
      <p:sp>
        <p:nvSpPr>
          <p:cNvPr id="4" name="">
            <a:extLst xmlns:a="http://schemas.openxmlformats.org/drawingml/2006/main">
              <a:ext uri="{FF2B5EF4-FFF2-40B4-BE49-F238E27FC236}">
                <a16:creationId xmlns:a16="http://schemas.microsoft.com/office/drawing/2014/main" id="{45FE6C23-99D9-4B20-9C0C-5DD47ABBC98F}"/>
              </a:ext>
            </a:extLst>
          </p:cNvPr>
          <p:cNvSpPr>
            <a:spLocks xmlns:a="http://schemas.openxmlformats.org/drawingml/2006/main" noGrp="1"/>
          </p:cNvSpPr>
          <p:nvPr/>
        </p:nvSpPr>
        <p:spPr>
          <a:xfrm xmlns:a="http://schemas.openxmlformats.org/drawingml/2006/main">
            <a:off x="704850" y="1952625"/>
            <a:ext cx="4953000" cy="169545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5" name="">
            <a:extLst xmlns:a="http://schemas.openxmlformats.org/drawingml/2006/main">
              <a:ext uri="{FF2B5EF4-FFF2-40B4-BE49-F238E27FC236}">
                <a16:creationId xmlns:a16="http://schemas.microsoft.com/office/drawing/2014/main" id="{46BAEAF4-0B3F-4C32-B9CA-B45E98F780CD}"/>
              </a:ext>
            </a:extLst>
          </p:cNvPr>
          <p:cNvSpPr>
            <a:spLocks xmlns:a="http://schemas.openxmlformats.org/drawingml/2006/main" noGrp="1"/>
          </p:cNvSpPr>
          <p:nvPr/>
        </p:nvSpPr>
        <p:spPr>
          <a:xfrm xmlns:a="http://schemas.openxmlformats.org/drawingml/2006/main">
            <a:off x="971550" y="2266950"/>
            <a:ext cx="4476750" cy="4381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78405"/>
          </a:bodyPr>
          <a:lstStyle xmlns:a="http://schemas.openxmlformats.org/drawingml/2006/main"/>
          <a:p xmlns:a="http://schemas.openxmlformats.org/drawingml/2006/main">
            <a:pPr algn="l">
              <a:defRPr sz="2100" b="1">
                <a:solidFill>
                  <a:srgbClr val="172033"/>
                </a:solidFill>
                <a:latin typeface="Arial"/>
                <a:ea typeface="Arial"/>
                <a:cs typeface="Arial"/>
              </a:defRPr>
            </a:pPr>
            <a:r>
              <a:rPr sz="2100" b="1">
                <a:solidFill>
                  <a:srgbClr val="172033"/>
                </a:solidFill>
                <a:latin typeface="Arial"/>
                <a:ea typeface="Arial"/>
                <a:cs typeface="Arial"/>
              </a:rPr>
              <a:t>VS_t = avg(IV_OTM_put) - avg(IV_ATM_call)</a:t>
            </a:r>
          </a:p>
        </p:txBody>
      </p:sp>
      <p:sp>
        <p:nvSpPr>
          <p:cNvPr id="6" name="">
            <a:extLst xmlns:a="http://schemas.openxmlformats.org/drawingml/2006/main">
              <a:ext uri="{FF2B5EF4-FFF2-40B4-BE49-F238E27FC236}">
                <a16:creationId xmlns:a16="http://schemas.microsoft.com/office/drawing/2014/main" id="{DB050A30-E83D-4CFC-963D-66180FFAAB91}"/>
              </a:ext>
            </a:extLst>
          </p:cNvPr>
          <p:cNvSpPr>
            <a:spLocks xmlns:a="http://schemas.openxmlformats.org/drawingml/2006/main" noGrp="1"/>
          </p:cNvSpPr>
          <p:nvPr/>
        </p:nvSpPr>
        <p:spPr>
          <a:xfrm xmlns:a="http://schemas.openxmlformats.org/drawingml/2006/main">
            <a:off x="990600" y="2905125"/>
            <a:ext cx="4191000" cy="5334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91603"/>
          </a:bodyPr>
          <a:lstStyle xmlns:a="http://schemas.openxmlformats.org/drawingml/2006/main"/>
          <a:p xmlns:a="http://schemas.openxmlformats.org/drawingml/2006/main">
            <a:pPr algn="l">
              <a:defRPr sz="1350" b="0">
                <a:solidFill>
                  <a:srgbClr val="334155"/>
                </a:solidFill>
                <a:latin typeface="Arial"/>
                <a:ea typeface="Arial"/>
                <a:cs typeface="Arial"/>
              </a:defRPr>
            </a:pPr>
            <a:r>
              <a:rPr sz="1350" b="0">
                <a:solidFill>
                  <a:srgbClr val="334155"/>
                </a:solidFill>
                <a:latin typeface="Arial"/>
                <a:ea typeface="Arial"/>
                <a:cs typeface="Arial"/>
              </a:rPr>
              <a:t>A high value means downside put implied volatility is expensive relative to near-the-money call implied volatility.</a:t>
            </a:r>
          </a:p>
        </p:txBody>
      </p:sp>
      <p:sp>
        <p:nvSpPr>
          <p:cNvPr id="7" name="">
            <a:extLst xmlns:a="http://schemas.openxmlformats.org/drawingml/2006/main">
              <a:ext uri="{FF2B5EF4-FFF2-40B4-BE49-F238E27FC236}">
                <a16:creationId xmlns:a16="http://schemas.microsoft.com/office/drawing/2014/main" id="{9F204DED-BF14-41B2-90EA-6FA40482DB45}"/>
              </a:ext>
            </a:extLst>
          </p:cNvPr>
          <p:cNvSpPr>
            <a:spLocks xmlns:a="http://schemas.openxmlformats.org/drawingml/2006/main" noGrp="1"/>
          </p:cNvSpPr>
          <p:nvPr/>
        </p:nvSpPr>
        <p:spPr>
          <a:xfrm xmlns:a="http://schemas.openxmlformats.org/drawingml/2006/main">
            <a:off x="6496050" y="1962150"/>
            <a:ext cx="2857500" cy="26670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76200" tIns="76200" rIns="76200" bIns="76200">
            <a:normAutofit fontScale="58823"/>
          </a:bodyPr>
          <a:lstStyle xmlns:a="http://schemas.openxmlformats.org/drawingml/2006/main"/>
          <a:p xmlns:a="http://schemas.openxmlformats.org/drawingml/2006/main">
            <a:pPr algn="l">
              <a:defRPr sz="1275" b="1">
                <a:solidFill>
                  <a:srgbClr val="172033"/>
                </a:solidFill>
                <a:latin typeface="Arial"/>
                <a:ea typeface="Arial"/>
                <a:cs typeface="Arial"/>
              </a:defRPr>
            </a:pPr>
            <a:r>
              <a:rPr sz="1275" b="1">
                <a:solidFill>
                  <a:srgbClr val="172033"/>
                </a:solidFill>
                <a:latin typeface="Arial"/>
                <a:ea typeface="Arial"/>
                <a:cs typeface="Arial"/>
              </a:rPr>
              <a:t>Moneyness bands</a:t>
            </a:r>
          </a:p>
        </p:txBody>
      </p:sp>
      <p:sp>
        <p:nvSpPr>
          <p:cNvPr id="8" name="">
            <a:extLst xmlns:a="http://schemas.openxmlformats.org/drawingml/2006/main">
              <a:ext uri="{FF2B5EF4-FFF2-40B4-BE49-F238E27FC236}">
                <a16:creationId xmlns:a16="http://schemas.microsoft.com/office/drawing/2014/main" id="{60328571-D2E9-4096-8CF2-399A156BE65E}"/>
              </a:ext>
            </a:extLst>
          </p:cNvPr>
          <p:cNvSpPr>
            <a:spLocks xmlns:a="http://schemas.openxmlformats.org/drawingml/2006/main" noGrp="1"/>
          </p:cNvSpPr>
          <p:nvPr/>
        </p:nvSpPr>
        <p:spPr>
          <a:xfrm xmlns:a="http://schemas.openxmlformats.org/drawingml/2006/main">
            <a:off x="6496050" y="2590800"/>
            <a:ext cx="4343400" cy="171450"/>
          </a:xfrm>
          <a:prstGeom xmlns:a="http://schemas.openxmlformats.org/drawingml/2006/main" prst="rect">
            <a:avLst/>
          </a:prstGeom>
          <a:solidFill xmlns:a="http://schemas.openxmlformats.org/drawingml/2006/main">
            <a:srgbClr val="EEE8D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3F0D40A-948C-4D04-AA03-19825C3C0401}"/>
              </a:ext>
            </a:extLst>
          </p:cNvPr>
          <p:cNvSpPr>
            <a:spLocks xmlns:a="http://schemas.openxmlformats.org/drawingml/2006/main" noGrp="1"/>
          </p:cNvSpPr>
          <p:nvPr/>
        </p:nvSpPr>
        <p:spPr>
          <a:xfrm xmlns:a="http://schemas.openxmlformats.org/drawingml/2006/main">
            <a:off x="6991350" y="2466975"/>
            <a:ext cx="1581150" cy="419100"/>
          </a:xfrm>
          <a:prstGeom xmlns:a="http://schemas.openxmlformats.org/drawingml/2006/main" prst="rect">
            <a:avLst/>
          </a:prstGeom>
          <a:solidFill xmlns:a="http://schemas.openxmlformats.org/drawingml/2006/main">
            <a:srgbClr val="F4D9C9"/>
          </a:solidFill>
          <a:ln xmlns:a="http://schemas.openxmlformats.org/drawingml/2006/main" w="9525">
            <a:solidFill>
              <a:srgbClr val="C2410C"/>
            </a:solidFill>
          </a:ln>
        </p:spPr>
      </p:sp>
      <p:sp>
        <p:nvSpPr>
          <p:cNvPr id="10" name="">
            <a:extLst xmlns:a="http://schemas.openxmlformats.org/drawingml/2006/main">
              <a:ext uri="{FF2B5EF4-FFF2-40B4-BE49-F238E27FC236}">
                <a16:creationId xmlns:a16="http://schemas.microsoft.com/office/drawing/2014/main" id="{2AC11F26-1E0F-44DE-A213-E81BE8361B86}"/>
              </a:ext>
            </a:extLst>
          </p:cNvPr>
          <p:cNvSpPr>
            <a:spLocks xmlns:a="http://schemas.openxmlformats.org/drawingml/2006/main" noGrp="1"/>
          </p:cNvSpPr>
          <p:nvPr/>
        </p:nvSpPr>
        <p:spPr>
          <a:xfrm xmlns:a="http://schemas.openxmlformats.org/drawingml/2006/main">
            <a:off x="8572500" y="2466975"/>
            <a:ext cx="1981200" cy="419100"/>
          </a:xfrm>
          <a:prstGeom xmlns:a="http://schemas.openxmlformats.org/drawingml/2006/main" prst="rect">
            <a:avLst/>
          </a:prstGeom>
          <a:solidFill xmlns:a="http://schemas.openxmlformats.org/drawingml/2006/main">
            <a:srgbClr val="DBEAFE"/>
          </a:solidFill>
          <a:ln xmlns:a="http://schemas.openxmlformats.org/drawingml/2006/main" w="9525">
            <a:solidFill>
              <a:srgbClr val="1D4ED8"/>
            </a:solidFill>
          </a:ln>
        </p:spPr>
      </p:sp>
      <p:sp>
        <p:nvSpPr>
          <p:cNvPr id="11" name="">
            <a:extLst xmlns:a="http://schemas.openxmlformats.org/drawingml/2006/main">
              <a:ext uri="{FF2B5EF4-FFF2-40B4-BE49-F238E27FC236}">
                <a16:creationId xmlns:a16="http://schemas.microsoft.com/office/drawing/2014/main" id="{6CDA8E58-F117-4BA7-89AE-BB2006A57918}"/>
              </a:ext>
            </a:extLst>
          </p:cNvPr>
          <p:cNvSpPr>
            <a:spLocks xmlns:a="http://schemas.openxmlformats.org/drawingml/2006/main" noGrp="1"/>
          </p:cNvSpPr>
          <p:nvPr/>
        </p:nvSpPr>
        <p:spPr>
          <a:xfrm xmlns:a="http://schemas.openxmlformats.org/drawingml/2006/main">
            <a:off x="7086600" y="2352675"/>
            <a:ext cx="1390650" cy="704850"/>
          </a:xfrm>
          <a:prstGeom xmlns:a="http://schemas.openxmlformats.org/drawingml/2006/main" prst="rect">
            <a:avLst/>
          </a:prstGeom>
          <a:solidFill xmlns:a="http://schemas.openxmlformats.org/drawingml/2006/main">
            <a:srgbClr val="F4D9C9"/>
          </a:solidFill>
          <a:ln xmlns:a="http://schemas.openxmlformats.org/drawingml/2006/main" w="0">
            <a:noFill/>
          </a:ln>
        </p:spPr>
        <p:txBody>
          <a:bodyPr xmlns:a="http://schemas.openxmlformats.org/drawingml/2006/main" wrap="square" lIns="76200" tIns="76200" rIns="76200" bIns="76200">
            <a:normAutofit fontScale="100000"/>
          </a:bodyPr>
          <a:lstStyle xmlns:a="http://schemas.openxmlformats.org/drawingml/2006/main"/>
          <a:p xmlns:a="http://schemas.openxmlformats.org/drawingml/2006/main">
            <a:pPr algn="ctr">
              <a:defRPr sz="1200" b="1">
                <a:solidFill>
                  <a:srgbClr val="C2410C"/>
                </a:solidFill>
                <a:latin typeface="Arial"/>
                <a:ea typeface="Arial"/>
                <a:cs typeface="Arial"/>
              </a:defRPr>
            </a:pPr>
            <a:r>
              <a:rPr sz="1200" b="1">
                <a:solidFill>
                  <a:srgbClr val="C2410C"/>
                </a:solidFill>
                <a:latin typeface="Arial"/>
                <a:ea typeface="Arial"/>
                <a:cs typeface="Arial"/>
              </a:rPr>
              <a:t>OTM puts</a:t>
            </a:r>
          </a:p>
          <a:p xmlns:a="http://schemas.openxmlformats.org/drawingml/2006/main">
            <a:pPr algn="ctr">
              <a:defRPr sz="1200" b="1">
                <a:solidFill>
                  <a:srgbClr val="C2410C"/>
                </a:solidFill>
                <a:latin typeface="Arial"/>
                <a:ea typeface="Arial"/>
                <a:cs typeface="Arial"/>
              </a:defRPr>
            </a:pPr>
            <a:r>
              <a:rPr sz="1200" b="1">
                <a:solidFill>
                  <a:srgbClr val="C2410C"/>
                </a:solidFill>
                <a:latin typeface="Arial"/>
                <a:ea typeface="Arial"/>
                <a:cs typeface="Arial"/>
              </a:rPr>
              <a:t>0.80 &lt;= K/S &lt;= 0.95</a:t>
            </a:r>
          </a:p>
        </p:txBody>
      </p:sp>
      <p:sp>
        <p:nvSpPr>
          <p:cNvPr id="12" name="">
            <a:extLst xmlns:a="http://schemas.openxmlformats.org/drawingml/2006/main">
              <a:ext uri="{FF2B5EF4-FFF2-40B4-BE49-F238E27FC236}">
                <a16:creationId xmlns:a16="http://schemas.microsoft.com/office/drawing/2014/main" id="{9D190C8A-B210-43E1-ABD4-301357C2FC18}"/>
              </a:ext>
            </a:extLst>
          </p:cNvPr>
          <p:cNvSpPr>
            <a:spLocks xmlns:a="http://schemas.openxmlformats.org/drawingml/2006/main" noGrp="1"/>
          </p:cNvSpPr>
          <p:nvPr/>
        </p:nvSpPr>
        <p:spPr>
          <a:xfrm xmlns:a="http://schemas.openxmlformats.org/drawingml/2006/main">
            <a:off x="8705850" y="2352675"/>
            <a:ext cx="1676400" cy="704850"/>
          </a:xfrm>
          <a:prstGeom xmlns:a="http://schemas.openxmlformats.org/drawingml/2006/main" prst="rect">
            <a:avLst/>
          </a:prstGeom>
          <a:solidFill xmlns:a="http://schemas.openxmlformats.org/drawingml/2006/main">
            <a:srgbClr val="DBEAFE"/>
          </a:solidFill>
          <a:ln xmlns:a="http://schemas.openxmlformats.org/drawingml/2006/main" w="0">
            <a:noFill/>
          </a:ln>
        </p:spPr>
        <p:txBody>
          <a:bodyPr xmlns:a="http://schemas.openxmlformats.org/drawingml/2006/main" wrap="square" lIns="76200" tIns="76200" rIns="76200" bIns="76200">
            <a:normAutofit fontScale="100000"/>
          </a:bodyPr>
          <a:lstStyle xmlns:a="http://schemas.openxmlformats.org/drawingml/2006/main"/>
          <a:p xmlns:a="http://schemas.openxmlformats.org/drawingml/2006/main">
            <a:pPr algn="ctr">
              <a:defRPr sz="1200" b="1">
                <a:solidFill>
                  <a:srgbClr val="1D4ED8"/>
                </a:solidFill>
                <a:latin typeface="Arial"/>
                <a:ea typeface="Arial"/>
                <a:cs typeface="Arial"/>
              </a:defRPr>
            </a:pPr>
            <a:r>
              <a:rPr sz="1200" b="1">
                <a:solidFill>
                  <a:srgbClr val="1D4ED8"/>
                </a:solidFill>
                <a:latin typeface="Arial"/>
                <a:ea typeface="Arial"/>
                <a:cs typeface="Arial"/>
              </a:rPr>
              <a:t>ATM calls</a:t>
            </a:r>
          </a:p>
          <a:p xmlns:a="http://schemas.openxmlformats.org/drawingml/2006/main">
            <a:pPr algn="ctr">
              <a:defRPr sz="1200" b="1">
                <a:solidFill>
                  <a:srgbClr val="1D4ED8"/>
                </a:solidFill>
                <a:latin typeface="Arial"/>
                <a:ea typeface="Arial"/>
                <a:cs typeface="Arial"/>
              </a:defRPr>
            </a:pPr>
            <a:r>
              <a:rPr sz="1200" b="1">
                <a:solidFill>
                  <a:srgbClr val="1D4ED8"/>
                </a:solidFill>
                <a:latin typeface="Arial"/>
                <a:ea typeface="Arial"/>
                <a:cs typeface="Arial"/>
              </a:rPr>
              <a:t>0.95 &lt;= K/S &lt;= 1.05</a:t>
            </a:r>
          </a:p>
        </p:txBody>
      </p:sp>
      <p:sp>
        <p:nvSpPr>
          <p:cNvPr id="13" name="">
            <a:extLst xmlns:a="http://schemas.openxmlformats.org/drawingml/2006/main">
              <a:ext uri="{FF2B5EF4-FFF2-40B4-BE49-F238E27FC236}">
                <a16:creationId xmlns:a16="http://schemas.microsoft.com/office/drawing/2014/main" id="{8250A478-156E-4C6C-9067-2014CDBE6A87}"/>
              </a:ext>
            </a:extLst>
          </p:cNvPr>
          <p:cNvSpPr>
            <a:spLocks xmlns:a="http://schemas.openxmlformats.org/drawingml/2006/main" noGrp="1"/>
          </p:cNvSpPr>
          <p:nvPr/>
        </p:nvSpPr>
        <p:spPr>
          <a:xfrm xmlns:a="http://schemas.openxmlformats.org/drawingml/2006/main">
            <a:off x="6477000" y="2971800"/>
            <a:ext cx="419100" cy="2095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76200" tIns="76200" rIns="76200" bIns="76200">
            <a:normAutofit fontScale="38461"/>
          </a:bodyPr>
          <a:lstStyle xmlns:a="http://schemas.openxmlformats.org/drawingml/2006/main"/>
          <a:p xmlns:a="http://schemas.openxmlformats.org/drawingml/2006/main">
            <a:pPr algn="l">
              <a:defRPr sz="975" b="0">
                <a:solidFill>
                  <a:srgbClr val="64748B"/>
                </a:solidFill>
                <a:latin typeface="Arial"/>
                <a:ea typeface="Arial"/>
                <a:cs typeface="Arial"/>
              </a:defRPr>
            </a:pPr>
            <a:r>
              <a:rPr sz="975" b="0">
                <a:solidFill>
                  <a:srgbClr val="64748B"/>
                </a:solidFill>
                <a:latin typeface="Arial"/>
                <a:ea typeface="Arial"/>
                <a:cs typeface="Arial"/>
              </a:rPr>
              <a:t>0.80</a:t>
            </a:r>
          </a:p>
        </p:txBody>
      </p:sp>
      <p:sp>
        <p:nvSpPr>
          <p:cNvPr id="14" name="">
            <a:extLst xmlns:a="http://schemas.openxmlformats.org/drawingml/2006/main">
              <a:ext uri="{FF2B5EF4-FFF2-40B4-BE49-F238E27FC236}">
                <a16:creationId xmlns:a16="http://schemas.microsoft.com/office/drawing/2014/main" id="{7AB1FCC2-2EF5-4ABA-83F8-34C670B218B4}"/>
              </a:ext>
            </a:extLst>
          </p:cNvPr>
          <p:cNvSpPr>
            <a:spLocks xmlns:a="http://schemas.openxmlformats.org/drawingml/2006/main" noGrp="1"/>
          </p:cNvSpPr>
          <p:nvPr/>
        </p:nvSpPr>
        <p:spPr>
          <a:xfrm xmlns:a="http://schemas.openxmlformats.org/drawingml/2006/main">
            <a:off x="8382000" y="2971800"/>
            <a:ext cx="419100" cy="2095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76200" tIns="76200" rIns="76200" bIns="76200">
            <a:normAutofit fontScale="38461"/>
          </a:bodyPr>
          <a:lstStyle xmlns:a="http://schemas.openxmlformats.org/drawingml/2006/main"/>
          <a:p xmlns:a="http://schemas.openxmlformats.org/drawingml/2006/main">
            <a:pPr algn="l">
              <a:defRPr sz="975" b="0">
                <a:solidFill>
                  <a:srgbClr val="64748B"/>
                </a:solidFill>
                <a:latin typeface="Arial"/>
                <a:ea typeface="Arial"/>
                <a:cs typeface="Arial"/>
              </a:defRPr>
            </a:pPr>
            <a:r>
              <a:rPr sz="975" b="0">
                <a:solidFill>
                  <a:srgbClr val="64748B"/>
                </a:solidFill>
                <a:latin typeface="Arial"/>
                <a:ea typeface="Arial"/>
                <a:cs typeface="Arial"/>
              </a:rPr>
              <a:t>0.95</a:t>
            </a:r>
          </a:p>
        </p:txBody>
      </p:sp>
      <p:sp>
        <p:nvSpPr>
          <p:cNvPr id="15" name="">
            <a:extLst xmlns:a="http://schemas.openxmlformats.org/drawingml/2006/main">
              <a:ext uri="{FF2B5EF4-FFF2-40B4-BE49-F238E27FC236}">
                <a16:creationId xmlns:a16="http://schemas.microsoft.com/office/drawing/2014/main" id="{8B915F52-0532-4847-8F85-9E8E699A5781}"/>
              </a:ext>
            </a:extLst>
          </p:cNvPr>
          <p:cNvSpPr>
            <a:spLocks xmlns:a="http://schemas.openxmlformats.org/drawingml/2006/main" noGrp="1"/>
          </p:cNvSpPr>
          <p:nvPr/>
        </p:nvSpPr>
        <p:spPr>
          <a:xfrm xmlns:a="http://schemas.openxmlformats.org/drawingml/2006/main">
            <a:off x="10344150" y="2971800"/>
            <a:ext cx="419100" cy="2095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76200" tIns="76200" rIns="76200" bIns="76200">
            <a:normAutofit fontScale="38461"/>
          </a:bodyPr>
          <a:lstStyle xmlns:a="http://schemas.openxmlformats.org/drawingml/2006/main"/>
          <a:p xmlns:a="http://schemas.openxmlformats.org/drawingml/2006/main">
            <a:pPr algn="l">
              <a:defRPr sz="975" b="0">
                <a:solidFill>
                  <a:srgbClr val="64748B"/>
                </a:solidFill>
                <a:latin typeface="Arial"/>
                <a:ea typeface="Arial"/>
                <a:cs typeface="Arial"/>
              </a:defRPr>
            </a:pPr>
            <a:r>
              <a:rPr sz="975" b="0">
                <a:solidFill>
                  <a:srgbClr val="64748B"/>
                </a:solidFill>
                <a:latin typeface="Arial"/>
                <a:ea typeface="Arial"/>
                <a:cs typeface="Arial"/>
              </a:rPr>
              <a:t>1.05</a:t>
            </a:r>
          </a:p>
        </p:txBody>
      </p:sp>
      <p:sp>
        <p:nvSpPr>
          <p:cNvPr id="16" name="">
            <a:extLst xmlns:a="http://schemas.openxmlformats.org/drawingml/2006/main">
              <a:ext uri="{FF2B5EF4-FFF2-40B4-BE49-F238E27FC236}">
                <a16:creationId xmlns:a16="http://schemas.microsoft.com/office/drawing/2014/main" id="{17D3BF55-1C55-4DC2-B9D6-72DA14A86F52}"/>
              </a:ext>
            </a:extLst>
          </p:cNvPr>
          <p:cNvSpPr>
            <a:spLocks xmlns:a="http://schemas.openxmlformats.org/drawingml/2006/main" noGrp="1"/>
          </p:cNvSpPr>
          <p:nvPr/>
        </p:nvSpPr>
        <p:spPr>
          <a:xfrm xmlns:a="http://schemas.openxmlformats.org/drawingml/2006/main">
            <a:off x="742950" y="4400550"/>
            <a:ext cx="3238500" cy="914400"/>
          </a:xfrm>
          <a:prstGeom xmlns:a="http://schemas.openxmlformats.org/drawingml/2006/main" prst="rect">
            <a:avLst/>
          </a:prstGeom>
          <a:solidFill xmlns:a="http://schemas.openxmlformats.org/drawingml/2006/main">
            <a:srgbClr val="FFF7ED"/>
          </a:solidFill>
          <a:ln xmlns:a="http://schemas.openxmlformats.org/drawingml/2006/main" w="9525">
            <a:solidFill>
              <a:srgbClr val="C2410C"/>
            </a:solidFill>
          </a:ln>
        </p:spPr>
      </p:sp>
      <p:sp>
        <p:nvSpPr>
          <p:cNvPr id="17" name="">
            <a:extLst xmlns:a="http://schemas.openxmlformats.org/drawingml/2006/main">
              <a:ext uri="{FF2B5EF4-FFF2-40B4-BE49-F238E27FC236}">
                <a16:creationId xmlns:a16="http://schemas.microsoft.com/office/drawing/2014/main" id="{97BCD724-7229-44BA-9E01-380CC571055B}"/>
              </a:ext>
            </a:extLst>
          </p:cNvPr>
          <p:cNvSpPr>
            <a:spLocks xmlns:a="http://schemas.openxmlformats.org/drawingml/2006/main" noGrp="1"/>
          </p:cNvSpPr>
          <p:nvPr/>
        </p:nvSpPr>
        <p:spPr>
          <a:xfrm xmlns:a="http://schemas.openxmlformats.org/drawingml/2006/main">
            <a:off x="971550" y="4572000"/>
            <a:ext cx="2781300" cy="495300"/>
          </a:xfrm>
          <a:prstGeom xmlns:a="http://schemas.openxmlformats.org/drawingml/2006/main" prst="rect">
            <a:avLst/>
          </a:prstGeom>
          <a:solidFill xmlns:a="http://schemas.openxmlformats.org/drawingml/2006/main">
            <a:srgbClr val="FFF7ED"/>
          </a:solidFill>
          <a:ln xmlns:a="http://schemas.openxmlformats.org/drawingml/2006/main" w="0">
            <a:noFill/>
          </a:ln>
        </p:spPr>
        <p:txBody>
          <a:bodyPr xmlns:a="http://schemas.openxmlformats.org/drawingml/2006/main" wrap="square" lIns="76200" tIns="76200" rIns="76200" bIns="76200">
            <a:normAutofit fontScale="71429"/>
          </a:bodyPr>
          <a:lstStyle xmlns:a="http://schemas.openxmlformats.org/drawingml/2006/main"/>
          <a:p xmlns:a="http://schemas.openxmlformats.org/drawingml/2006/main">
            <a:pPr algn="l">
              <a:defRPr sz="1575" b="1">
                <a:solidFill>
                  <a:srgbClr val="7C2D12"/>
                </a:solidFill>
                <a:latin typeface="Arial"/>
                <a:ea typeface="Arial"/>
                <a:cs typeface="Arial"/>
              </a:defRPr>
            </a:pPr>
            <a:r>
              <a:rPr sz="1575" b="1">
                <a:solidFill>
                  <a:srgbClr val="7C2D12"/>
                </a:solidFill>
                <a:latin typeface="Arial"/>
                <a:ea typeface="Arial"/>
                <a:cs typeface="Arial"/>
              </a:rPr>
              <a:t>Not the same as ATM call IV &gt; ATM put IV.</a:t>
            </a:r>
          </a:p>
        </p:txBody>
      </p:sp>
      <p:sp>
        <p:nvSpPr>
          <p:cNvPr id="18" name="">
            <a:extLst xmlns:a="http://schemas.openxmlformats.org/drawingml/2006/main">
              <a:ext uri="{FF2B5EF4-FFF2-40B4-BE49-F238E27FC236}">
                <a16:creationId xmlns:a16="http://schemas.microsoft.com/office/drawing/2014/main" id="{04F9EA6D-1DC6-4384-8282-1AA5AF071909}"/>
              </a:ext>
            </a:extLst>
          </p:cNvPr>
          <p:cNvSpPr>
            <a:spLocks xmlns:a="http://schemas.openxmlformats.org/drawingml/2006/main" noGrp="1"/>
          </p:cNvSpPr>
          <p:nvPr/>
        </p:nvSpPr>
        <p:spPr>
          <a:xfrm xmlns:a="http://schemas.openxmlformats.org/drawingml/2006/main">
            <a:off x="4362450" y="4400550"/>
            <a:ext cx="6267450" cy="914400"/>
          </a:xfrm>
          <a:prstGeom xmlns:a="http://schemas.openxmlformats.org/drawingml/2006/main" prst="rect">
            <a:avLst/>
          </a:prstGeom>
          <a:solidFill xmlns:a="http://schemas.openxmlformats.org/drawingml/2006/main">
            <a:srgbClr val="F8FAFC"/>
          </a:solidFill>
          <a:ln xmlns:a="http://schemas.openxmlformats.org/drawingml/2006/main" w="9525">
            <a:solidFill>
              <a:srgbClr val="D9D5C8"/>
            </a:solidFill>
          </a:ln>
        </p:spPr>
      </p:sp>
      <p:sp>
        <p:nvSpPr>
          <p:cNvPr id="19" name="">
            <a:extLst xmlns:a="http://schemas.openxmlformats.org/drawingml/2006/main">
              <a:ext uri="{FF2B5EF4-FFF2-40B4-BE49-F238E27FC236}">
                <a16:creationId xmlns:a16="http://schemas.microsoft.com/office/drawing/2014/main" id="{C286BFFE-B5A1-417F-987C-EC473923E682}"/>
              </a:ext>
            </a:extLst>
          </p:cNvPr>
          <p:cNvSpPr>
            <a:spLocks xmlns:a="http://schemas.openxmlformats.org/drawingml/2006/main" noGrp="1"/>
          </p:cNvSpPr>
          <p:nvPr/>
        </p:nvSpPr>
        <p:spPr>
          <a:xfrm xmlns:a="http://schemas.openxmlformats.org/drawingml/2006/main">
            <a:off x="4591050" y="4552950"/>
            <a:ext cx="5810250" cy="438150"/>
          </a:xfrm>
          <a:prstGeom xmlns:a="http://schemas.openxmlformats.org/drawingml/2006/main" prst="rect">
            <a:avLst/>
          </a:prstGeom>
          <a:solidFill xmlns:a="http://schemas.openxmlformats.org/drawingml/2006/main">
            <a:srgbClr val="F8FAFC"/>
          </a:solidFill>
          <a:ln xmlns:a="http://schemas.openxmlformats.org/drawingml/2006/main" w="0">
            <a:noFill/>
          </a:ln>
        </p:spPr>
        <p:txBody>
          <a:bodyPr xmlns:a="http://schemas.openxmlformats.org/drawingml/2006/main" wrap="square" lIns="76200" tIns="76200" rIns="76200" bIns="76200">
            <a:normAutofit fontScale="62500"/>
          </a:bodyPr>
          <a:lstStyle xmlns:a="http://schemas.openxmlformats.org/drawingml/2006/main"/>
          <a:p xmlns:a="http://schemas.openxmlformats.org/drawingml/2006/main">
            <a:pPr algn="l">
              <a:defRPr sz="1500" b="0">
                <a:solidFill>
                  <a:srgbClr val="334155"/>
                </a:solidFill>
                <a:latin typeface="Arial"/>
                <a:ea typeface="Arial"/>
                <a:cs typeface="Arial"/>
              </a:defRPr>
            </a:pPr>
            <a:r>
              <a:rPr sz="1500" b="0">
                <a:solidFill>
                  <a:srgbClr val="334155"/>
                </a:solidFill>
                <a:latin typeface="Arial"/>
                <a:ea typeface="Arial"/>
                <a:cs typeface="Arial"/>
              </a:rPr>
              <a:t>The economic story is about demand for crash insurance and compensation for bearing market downside risk.</a:t>
            </a:r>
          </a:p>
        </p:txBody>
      </p:sp>
      <p:sp>
        <p:nvSpPr>
          <p:cNvPr id="20" name="">
            <a:extLst xmlns:a="http://schemas.openxmlformats.org/drawingml/2006/main">
              <a:ext uri="{FF2B5EF4-FFF2-40B4-BE49-F238E27FC236}">
                <a16:creationId xmlns:a16="http://schemas.microsoft.com/office/drawing/2014/main" id="{9BA7846A-F714-4862-9103-8A26EB31D373}"/>
              </a:ext>
            </a:extLst>
          </p:cNvPr>
          <p:cNvSpPr>
            <a:spLocks xmlns:a="http://schemas.openxmlformats.org/drawingml/2006/main" noGrp="1"/>
          </p:cNvSpPr>
          <p:nvPr/>
        </p:nvSpPr>
        <p:spPr>
          <a:xfrm xmlns:a="http://schemas.openxmlformats.org/drawingml/2006/main">
            <a:off x="457200" y="6496050"/>
            <a:ext cx="8382000" cy="2095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750" b="0">
                <a:solidFill>
                  <a:srgbClr val="64748B"/>
                </a:solidFill>
                <a:latin typeface="Arial"/>
                <a:ea typeface="Arial"/>
                <a:cs typeface="Arial"/>
              </a:defRPr>
            </a:pPr>
            <a:r>
              <a:rPr sz="750" b="0">
                <a:solidFill>
                  <a:srgbClr val="64748B"/>
                </a:solidFill>
                <a:latin typeface="Arial"/>
                <a:ea typeface="Arial"/>
                <a:cs typeface="Arial"/>
              </a:rPr>
              <a:t>Source: local replication of Atilgan, Bali, and Demirtas (2015) signal on OptionDataNM2026.csv</a:t>
            </a:r>
          </a:p>
        </p:txBody>
      </p:sp>
      <p:sp>
        <p:nvSpPr>
          <p:cNvPr id="21" name="">
            <a:extLst xmlns:a="http://schemas.openxmlformats.org/drawingml/2006/main">
              <a:ext uri="{FF2B5EF4-FFF2-40B4-BE49-F238E27FC236}">
                <a16:creationId xmlns:a16="http://schemas.microsoft.com/office/drawing/2014/main" id="{C64BCE7B-49D6-4D5C-B19E-D1E6DA57CDC9}"/>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sz="750" b="0">
                <a:solidFill>
                  <a:srgbClr val="64748B"/>
                </a:solidFill>
                <a:latin typeface="Arial"/>
                <a:ea typeface="Arial"/>
                <a:cs typeface="Arial"/>
              </a:defRPr>
            </a:pPr>
            <a:r>
              <a:rPr sz="750" b="0">
                <a:solidFill>
                  <a:srgbClr val="64748B"/>
                </a:solidFill>
                <a:latin typeface="Arial"/>
                <a:ea typeface="Arial"/>
                <a:cs typeface="Arial"/>
              </a:rPr>
              <a:t>2</a:t>
            </a:r>
          </a:p>
        </p:txBody>
      </p:sp>
    </p:spTree>
    <p:extLst>
      <p:ext uri="{BB962C8B-B14F-4D97-AF65-F5344CB8AC3E}">
        <p14:creationId xmlns:p14="http://schemas.microsoft.com/office/powerpoint/2010/main" val="53359105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AB4CC85-A62D-4685-BC45-A49FB042C2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ln>
        </p:spPr>
      </p:sp>
      <p:sp>
        <p:nvSpPr>
          <p:cNvPr id="2" name="">
            <a:extLst xmlns:a="http://schemas.openxmlformats.org/drawingml/2006/main">
              <a:ext uri="{FF2B5EF4-FFF2-40B4-BE49-F238E27FC236}">
                <a16:creationId xmlns:a16="http://schemas.microsoft.com/office/drawing/2014/main" id="{F720E7A6-D7F1-45D1-B3A9-7E0FFA3D5861}"/>
              </a:ext>
            </a:extLst>
          </p:cNvPr>
          <p:cNvSpPr>
            <a:spLocks xmlns:a="http://schemas.openxmlformats.org/drawingml/2006/main" noGrp="1"/>
          </p:cNvSpPr>
          <p:nvPr/>
        </p:nvSpPr>
        <p:spPr>
          <a:xfrm xmlns:a="http://schemas.openxmlformats.org/drawingml/2006/main">
            <a:off x="514350" y="323850"/>
            <a:ext cx="3048000" cy="26670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38100" rIns="0" bIns="0">
            <a:normAutofit fontScale="100000"/>
          </a:bodyPr>
          <a:lstStyle xmlns:a="http://schemas.openxmlformats.org/drawingml/2006/main"/>
          <a:p xmlns:a="http://schemas.openxmlformats.org/drawingml/2006/main">
            <a:pPr algn="l">
              <a:defRPr sz="975" b="1">
                <a:solidFill>
                  <a:srgbClr val="C2410C"/>
                </a:solidFill>
                <a:latin typeface="Arial"/>
                <a:ea typeface="Arial"/>
                <a:cs typeface="Arial"/>
              </a:defRPr>
            </a:pPr>
            <a:r>
              <a:rPr sz="975" b="1">
                <a:solidFill>
                  <a:srgbClr val="C2410C"/>
                </a:solidFill>
                <a:latin typeface="Arial"/>
                <a:ea typeface="Arial"/>
                <a:cs typeface="Arial"/>
              </a:rPr>
              <a:t>REPLICATION DESIGN</a:t>
            </a:r>
          </a:p>
        </p:txBody>
      </p:sp>
      <p:sp>
        <p:nvSpPr>
          <p:cNvPr id="3" name="">
            <a:extLst xmlns:a="http://schemas.openxmlformats.org/drawingml/2006/main">
              <a:ext uri="{FF2B5EF4-FFF2-40B4-BE49-F238E27FC236}">
                <a16:creationId xmlns:a16="http://schemas.microsoft.com/office/drawing/2014/main" id="{80649726-033E-4D56-922C-B31BC7326D1C}"/>
              </a:ext>
            </a:extLst>
          </p:cNvPr>
          <p:cNvSpPr>
            <a:spLocks xmlns:a="http://schemas.openxmlformats.org/drawingml/2006/main" noGrp="1"/>
          </p:cNvSpPr>
          <p:nvPr/>
        </p:nvSpPr>
        <p:spPr>
          <a:xfrm xmlns:a="http://schemas.openxmlformats.org/drawingml/2006/main">
            <a:off x="457200" y="628650"/>
            <a:ext cx="8858250" cy="91440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3000" b="1">
                <a:solidFill>
                  <a:srgbClr val="172033"/>
                </a:solidFill>
                <a:latin typeface="Arial"/>
                <a:ea typeface="Arial"/>
                <a:cs typeface="Arial"/>
              </a:defRPr>
            </a:pPr>
            <a:r>
              <a:rPr sz="3000" b="1">
                <a:solidFill>
                  <a:srgbClr val="172033"/>
                </a:solidFill>
                <a:latin typeface="Arial"/>
                <a:ea typeface="Arial"/>
                <a:cs typeface="Arial"/>
              </a:rPr>
              <a:t>The pipeline keeps the paper logic where this dataset allows it.</a:t>
            </a:r>
          </a:p>
        </p:txBody>
      </p:sp>
      <p:sp>
        <p:nvSpPr>
          <p:cNvPr id="4" name="">
            <a:extLst xmlns:a="http://schemas.openxmlformats.org/drawingml/2006/main">
              <a:ext uri="{FF2B5EF4-FFF2-40B4-BE49-F238E27FC236}">
                <a16:creationId xmlns:a16="http://schemas.microsoft.com/office/drawing/2014/main" id="{30A35453-27AD-4483-B2F9-BA125E3D7203}"/>
              </a:ext>
            </a:extLst>
          </p:cNvPr>
          <p:cNvSpPr>
            <a:spLocks xmlns:a="http://schemas.openxmlformats.org/drawingml/2006/main" noGrp="1"/>
          </p:cNvSpPr>
          <p:nvPr/>
        </p:nvSpPr>
        <p:spPr>
          <a:xfrm xmlns:a="http://schemas.openxmlformats.org/drawingml/2006/main">
            <a:off x="590550" y="2190750"/>
            <a:ext cx="1466850" cy="177165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5" name="">
            <a:extLst xmlns:a="http://schemas.openxmlformats.org/drawingml/2006/main">
              <a:ext uri="{FF2B5EF4-FFF2-40B4-BE49-F238E27FC236}">
                <a16:creationId xmlns:a16="http://schemas.microsoft.com/office/drawing/2014/main" id="{58A80370-1D30-43CF-BC56-681DCABC1BDA}"/>
              </a:ext>
            </a:extLst>
          </p:cNvPr>
          <p:cNvSpPr>
            <a:spLocks xmlns:a="http://schemas.openxmlformats.org/drawingml/2006/main" noGrp="1"/>
          </p:cNvSpPr>
          <p:nvPr/>
        </p:nvSpPr>
        <p:spPr>
          <a:xfrm xmlns:a="http://schemas.openxmlformats.org/drawingml/2006/main">
            <a:off x="742950" y="2381250"/>
            <a:ext cx="304800" cy="304800"/>
          </a:xfrm>
          <a:prstGeom xmlns:a="http://schemas.openxmlformats.org/drawingml/2006/main" prst="rect">
            <a:avLst/>
          </a:prstGeom>
          <a:solidFill xmlns:a="http://schemas.openxmlformats.org/drawingml/2006/main">
            <a:srgbClr val="0F766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425E763-E03D-4E63-AF8C-AF3198604CF1}"/>
              </a:ext>
            </a:extLst>
          </p:cNvPr>
          <p:cNvSpPr>
            <a:spLocks xmlns:a="http://schemas.openxmlformats.org/drawingml/2006/main" noGrp="1"/>
          </p:cNvSpPr>
          <p:nvPr/>
        </p:nvSpPr>
        <p:spPr>
          <a:xfrm xmlns:a="http://schemas.openxmlformats.org/drawingml/2006/main">
            <a:off x="742950" y="2400300"/>
            <a:ext cx="304800" cy="247650"/>
          </a:xfrm>
          <a:prstGeom xmlns:a="http://schemas.openxmlformats.org/drawingml/2006/main" prst="rect">
            <a:avLst/>
          </a:prstGeom>
          <a:solidFill xmlns:a="http://schemas.openxmlformats.org/drawingml/2006/main">
            <a:srgbClr val="0F766E"/>
          </a:solidFill>
          <a:ln xmlns:a="http://schemas.openxmlformats.org/drawingml/2006/main" w="0">
            <a:noFill/>
          </a:ln>
        </p:spPr>
        <p:txBody>
          <a:bodyPr xmlns:a="http://schemas.openxmlformats.org/drawingml/2006/main" wrap="square" lIns="76200" tIns="76200" rIns="76200" bIns="76200">
            <a:normAutofit fontScale="55555"/>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F54BC993-F76F-4EEF-80FC-4E62308C4B81}"/>
              </a:ext>
            </a:extLst>
          </p:cNvPr>
          <p:cNvSpPr>
            <a:spLocks xmlns:a="http://schemas.openxmlformats.org/drawingml/2006/main" noGrp="1"/>
          </p:cNvSpPr>
          <p:nvPr/>
        </p:nvSpPr>
        <p:spPr>
          <a:xfrm xmlns:a="http://schemas.openxmlformats.org/drawingml/2006/main">
            <a:off x="742950" y="2819400"/>
            <a:ext cx="1162050" cy="2857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68627"/>
          </a:bodyPr>
          <a:lstStyle xmlns:a="http://schemas.openxmlformats.org/drawingml/2006/main"/>
          <a:p xmlns:a="http://schemas.openxmlformats.org/drawingml/2006/main">
            <a:pPr algn="l">
              <a:defRPr sz="1275" b="1">
                <a:solidFill>
                  <a:srgbClr val="172033"/>
                </a:solidFill>
                <a:latin typeface="Arial"/>
                <a:ea typeface="Arial"/>
                <a:cs typeface="Arial"/>
              </a:defRPr>
            </a:pPr>
            <a:r>
              <a:rPr sz="1275" b="1">
                <a:solidFill>
                  <a:srgbClr val="172033"/>
                </a:solidFill>
                <a:latin typeface="Arial"/>
                <a:ea typeface="Arial"/>
                <a:cs typeface="Arial"/>
              </a:rPr>
              <a:t>Load chain</a:t>
            </a:r>
          </a:p>
        </p:txBody>
      </p:sp>
      <p:sp>
        <p:nvSpPr>
          <p:cNvPr id="8" name="">
            <a:extLst xmlns:a="http://schemas.openxmlformats.org/drawingml/2006/main">
              <a:ext uri="{FF2B5EF4-FFF2-40B4-BE49-F238E27FC236}">
                <a16:creationId xmlns:a16="http://schemas.microsoft.com/office/drawing/2014/main" id="{8D255DE6-580E-473D-9A54-CEE6444F4CCD}"/>
              </a:ext>
            </a:extLst>
          </p:cNvPr>
          <p:cNvSpPr>
            <a:spLocks xmlns:a="http://schemas.openxmlformats.org/drawingml/2006/main" noGrp="1"/>
          </p:cNvSpPr>
          <p:nvPr/>
        </p:nvSpPr>
        <p:spPr>
          <a:xfrm xmlns:a="http://schemas.openxmlformats.org/drawingml/2006/main">
            <a:off x="742950" y="3200400"/>
            <a:ext cx="1162050" cy="5143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100000"/>
          </a:bodyPr>
          <a:lstStyle xmlns:a="http://schemas.openxmlformats.org/drawingml/2006/main"/>
          <a:p xmlns:a="http://schemas.openxmlformats.org/drawingml/2006/main">
            <a:pPr algn="l">
              <a:defRPr sz="975" b="0">
                <a:solidFill>
                  <a:srgbClr val="334155"/>
                </a:solidFill>
                <a:latin typeface="Arial"/>
                <a:ea typeface="Arial"/>
                <a:cs typeface="Arial"/>
              </a:defRPr>
            </a:pPr>
            <a:r>
              <a:rPr sz="975" b="0">
                <a:solidFill>
                  <a:srgbClr val="334155"/>
                </a:solidFill>
                <a:latin typeface="Arial"/>
                <a:ea typeface="Arial"/>
                <a:cs typeface="Arial"/>
              </a:rPr>
              <a:t>spot, strike, IV, bids, asks</a:t>
            </a:r>
          </a:p>
        </p:txBody>
      </p:sp>
      <p:sp>
        <p:nvSpPr>
          <p:cNvPr id="9" name="">
            <a:extLst xmlns:a="http://schemas.openxmlformats.org/drawingml/2006/main">
              <a:ext uri="{FF2B5EF4-FFF2-40B4-BE49-F238E27FC236}">
                <a16:creationId xmlns:a16="http://schemas.microsoft.com/office/drawing/2014/main" id="{D287801D-AB6C-4455-A75C-A173C59C4448}"/>
              </a:ext>
            </a:extLst>
          </p:cNvPr>
          <p:cNvSpPr>
            <a:spLocks xmlns:a="http://schemas.openxmlformats.org/drawingml/2006/main" noGrp="1"/>
          </p:cNvSpPr>
          <p:nvPr/>
        </p:nvSpPr>
        <p:spPr>
          <a:xfrm xmlns:a="http://schemas.openxmlformats.org/drawingml/2006/main">
            <a:off x="2114550" y="3038475"/>
            <a:ext cx="495300" cy="28575"/>
          </a:xfrm>
          <a:prstGeom xmlns:a="http://schemas.openxmlformats.org/drawingml/2006/main" prst="rect">
            <a:avLst/>
          </a:prstGeom>
          <a:solidFill xmlns:a="http://schemas.openxmlformats.org/drawingml/2006/main">
            <a:srgbClr val="D9D5C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013F7AA-B997-42BB-B25F-D6450B3006BE}"/>
              </a:ext>
            </a:extLst>
          </p:cNvPr>
          <p:cNvSpPr>
            <a:spLocks xmlns:a="http://schemas.openxmlformats.org/drawingml/2006/main" noGrp="1"/>
          </p:cNvSpPr>
          <p:nvPr/>
        </p:nvSpPr>
        <p:spPr>
          <a:xfrm xmlns:a="http://schemas.openxmlformats.org/drawingml/2006/main">
            <a:off x="2400300" y="2190750"/>
            <a:ext cx="1466850" cy="177165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11" name="">
            <a:extLst xmlns:a="http://schemas.openxmlformats.org/drawingml/2006/main">
              <a:ext uri="{FF2B5EF4-FFF2-40B4-BE49-F238E27FC236}">
                <a16:creationId xmlns:a16="http://schemas.microsoft.com/office/drawing/2014/main" id="{7C60FE2E-A2C9-4A6A-A39E-007298F713BA}"/>
              </a:ext>
            </a:extLst>
          </p:cNvPr>
          <p:cNvSpPr>
            <a:spLocks xmlns:a="http://schemas.openxmlformats.org/drawingml/2006/main" noGrp="1"/>
          </p:cNvSpPr>
          <p:nvPr/>
        </p:nvSpPr>
        <p:spPr>
          <a:xfrm xmlns:a="http://schemas.openxmlformats.org/drawingml/2006/main">
            <a:off x="2552700" y="2381250"/>
            <a:ext cx="304800" cy="304800"/>
          </a:xfrm>
          <a:prstGeom xmlns:a="http://schemas.openxmlformats.org/drawingml/2006/main" prst="rect">
            <a:avLst/>
          </a:prstGeom>
          <a:solidFill xmlns:a="http://schemas.openxmlformats.org/drawingml/2006/main">
            <a:srgbClr val="1D4E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76C21EA-C30F-4CED-BAD8-20C340B33A1A}"/>
              </a:ext>
            </a:extLst>
          </p:cNvPr>
          <p:cNvSpPr>
            <a:spLocks xmlns:a="http://schemas.openxmlformats.org/drawingml/2006/main" noGrp="1"/>
          </p:cNvSpPr>
          <p:nvPr/>
        </p:nvSpPr>
        <p:spPr>
          <a:xfrm xmlns:a="http://schemas.openxmlformats.org/drawingml/2006/main">
            <a:off x="2552700" y="2400300"/>
            <a:ext cx="304800" cy="247650"/>
          </a:xfrm>
          <a:prstGeom xmlns:a="http://schemas.openxmlformats.org/drawingml/2006/main" prst="rect">
            <a:avLst/>
          </a:prstGeom>
          <a:solidFill xmlns:a="http://schemas.openxmlformats.org/drawingml/2006/main">
            <a:srgbClr val="1D4ED8"/>
          </a:solidFill>
          <a:ln xmlns:a="http://schemas.openxmlformats.org/drawingml/2006/main" w="0">
            <a:noFill/>
          </a:ln>
        </p:spPr>
        <p:txBody>
          <a:bodyPr xmlns:a="http://schemas.openxmlformats.org/drawingml/2006/main" wrap="square" lIns="76200" tIns="76200" rIns="76200" bIns="76200">
            <a:normAutofit fontScale="55555"/>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E376862E-4704-4427-8134-0D3BC38AD4CC}"/>
              </a:ext>
            </a:extLst>
          </p:cNvPr>
          <p:cNvSpPr>
            <a:spLocks xmlns:a="http://schemas.openxmlformats.org/drawingml/2006/main" noGrp="1"/>
          </p:cNvSpPr>
          <p:nvPr/>
        </p:nvSpPr>
        <p:spPr>
          <a:xfrm xmlns:a="http://schemas.openxmlformats.org/drawingml/2006/main">
            <a:off x="2552700" y="2819400"/>
            <a:ext cx="1162050" cy="2857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68627"/>
          </a:bodyPr>
          <a:lstStyle xmlns:a="http://schemas.openxmlformats.org/drawingml/2006/main"/>
          <a:p xmlns:a="http://schemas.openxmlformats.org/drawingml/2006/main">
            <a:pPr algn="l">
              <a:defRPr sz="1275" b="1">
                <a:solidFill>
                  <a:srgbClr val="172033"/>
                </a:solidFill>
                <a:latin typeface="Arial"/>
                <a:ea typeface="Arial"/>
                <a:cs typeface="Arial"/>
              </a:defRPr>
            </a:pPr>
            <a:r>
              <a:rPr sz="1275" b="1">
                <a:solidFill>
                  <a:srgbClr val="172033"/>
                </a:solidFill>
                <a:latin typeface="Arial"/>
                <a:ea typeface="Arial"/>
                <a:cs typeface="Arial"/>
              </a:rPr>
              <a:t>Filter quotes</a:t>
            </a:r>
          </a:p>
        </p:txBody>
      </p:sp>
      <p:sp>
        <p:nvSpPr>
          <p:cNvPr id="14" name="">
            <a:extLst xmlns:a="http://schemas.openxmlformats.org/drawingml/2006/main">
              <a:ext uri="{FF2B5EF4-FFF2-40B4-BE49-F238E27FC236}">
                <a16:creationId xmlns:a16="http://schemas.microsoft.com/office/drawing/2014/main" id="{C26BDB45-8D5B-400E-AFE1-D7C384FF9148}"/>
              </a:ext>
            </a:extLst>
          </p:cNvPr>
          <p:cNvSpPr>
            <a:spLocks xmlns:a="http://schemas.openxmlformats.org/drawingml/2006/main" noGrp="1"/>
          </p:cNvSpPr>
          <p:nvPr/>
        </p:nvSpPr>
        <p:spPr>
          <a:xfrm xmlns:a="http://schemas.openxmlformats.org/drawingml/2006/main">
            <a:off x="2552700" y="3200400"/>
            <a:ext cx="1162050" cy="5143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85765"/>
          </a:bodyPr>
          <a:lstStyle xmlns:a="http://schemas.openxmlformats.org/drawingml/2006/main"/>
          <a:p xmlns:a="http://schemas.openxmlformats.org/drawingml/2006/main">
            <a:pPr algn="l">
              <a:defRPr sz="975" b="0">
                <a:solidFill>
                  <a:srgbClr val="334155"/>
                </a:solidFill>
                <a:latin typeface="Arial"/>
                <a:ea typeface="Arial"/>
                <a:cs typeface="Arial"/>
              </a:defRPr>
            </a:pPr>
            <a:r>
              <a:rPr sz="975" b="0">
                <a:solidFill>
                  <a:srgbClr val="334155"/>
                </a:solidFill>
                <a:latin typeface="Arial"/>
                <a:ea typeface="Arial"/>
                <a:cs typeface="Arial"/>
              </a:rPr>
              <a:t>10-60d, IV 3%-200%, mid &gt;= $0.125</a:t>
            </a:r>
          </a:p>
        </p:txBody>
      </p:sp>
      <p:sp>
        <p:nvSpPr>
          <p:cNvPr id="15" name="">
            <a:extLst xmlns:a="http://schemas.openxmlformats.org/drawingml/2006/main">
              <a:ext uri="{FF2B5EF4-FFF2-40B4-BE49-F238E27FC236}">
                <a16:creationId xmlns:a16="http://schemas.microsoft.com/office/drawing/2014/main" id="{A71F0DD7-B8DD-49C2-AAA1-44BD8DD70057}"/>
              </a:ext>
            </a:extLst>
          </p:cNvPr>
          <p:cNvSpPr>
            <a:spLocks xmlns:a="http://schemas.openxmlformats.org/drawingml/2006/main" noGrp="1"/>
          </p:cNvSpPr>
          <p:nvPr/>
        </p:nvSpPr>
        <p:spPr>
          <a:xfrm xmlns:a="http://schemas.openxmlformats.org/drawingml/2006/main">
            <a:off x="3924300" y="3038475"/>
            <a:ext cx="495300" cy="28575"/>
          </a:xfrm>
          <a:prstGeom xmlns:a="http://schemas.openxmlformats.org/drawingml/2006/main" prst="rect">
            <a:avLst/>
          </a:prstGeom>
          <a:solidFill xmlns:a="http://schemas.openxmlformats.org/drawingml/2006/main">
            <a:srgbClr val="D9D5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662E3CE-6FAE-4975-9319-1D514AC5AE4A}"/>
              </a:ext>
            </a:extLst>
          </p:cNvPr>
          <p:cNvSpPr>
            <a:spLocks xmlns:a="http://schemas.openxmlformats.org/drawingml/2006/main" noGrp="1"/>
          </p:cNvSpPr>
          <p:nvPr/>
        </p:nvSpPr>
        <p:spPr>
          <a:xfrm xmlns:a="http://schemas.openxmlformats.org/drawingml/2006/main">
            <a:off x="4210050" y="2190750"/>
            <a:ext cx="1466850" cy="177165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17" name="">
            <a:extLst xmlns:a="http://schemas.openxmlformats.org/drawingml/2006/main">
              <a:ext uri="{FF2B5EF4-FFF2-40B4-BE49-F238E27FC236}">
                <a16:creationId xmlns:a16="http://schemas.microsoft.com/office/drawing/2014/main" id="{9C0332C0-ED0B-44E5-B0EB-4D11BC075475}"/>
              </a:ext>
            </a:extLst>
          </p:cNvPr>
          <p:cNvSpPr>
            <a:spLocks xmlns:a="http://schemas.openxmlformats.org/drawingml/2006/main" noGrp="1"/>
          </p:cNvSpPr>
          <p:nvPr/>
        </p:nvSpPr>
        <p:spPr>
          <a:xfrm xmlns:a="http://schemas.openxmlformats.org/drawingml/2006/main">
            <a:off x="4362450" y="2381250"/>
            <a:ext cx="304800" cy="304800"/>
          </a:xfrm>
          <a:prstGeom xmlns:a="http://schemas.openxmlformats.org/drawingml/2006/main" prst="rect">
            <a:avLst/>
          </a:prstGeom>
          <a:solidFill xmlns:a="http://schemas.openxmlformats.org/drawingml/2006/main">
            <a:srgbClr val="C2410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B03DD92-C7BB-424A-91AE-287707C50D85}"/>
              </a:ext>
            </a:extLst>
          </p:cNvPr>
          <p:cNvSpPr>
            <a:spLocks xmlns:a="http://schemas.openxmlformats.org/drawingml/2006/main" noGrp="1"/>
          </p:cNvSpPr>
          <p:nvPr/>
        </p:nvSpPr>
        <p:spPr>
          <a:xfrm xmlns:a="http://schemas.openxmlformats.org/drawingml/2006/main">
            <a:off x="4362450" y="2400300"/>
            <a:ext cx="304800" cy="247650"/>
          </a:xfrm>
          <a:prstGeom xmlns:a="http://schemas.openxmlformats.org/drawingml/2006/main" prst="rect">
            <a:avLst/>
          </a:prstGeom>
          <a:solidFill xmlns:a="http://schemas.openxmlformats.org/drawingml/2006/main">
            <a:srgbClr val="C2410C"/>
          </a:solidFill>
          <a:ln xmlns:a="http://schemas.openxmlformats.org/drawingml/2006/main" w="0">
            <a:noFill/>
          </a:ln>
        </p:spPr>
        <p:txBody>
          <a:bodyPr xmlns:a="http://schemas.openxmlformats.org/drawingml/2006/main" wrap="square" lIns="76200" tIns="76200" rIns="76200" bIns="76200">
            <a:normAutofit fontScale="55555"/>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E03823A8-D215-45B5-8781-6FF97D758BF0}"/>
              </a:ext>
            </a:extLst>
          </p:cNvPr>
          <p:cNvSpPr>
            <a:spLocks xmlns:a="http://schemas.openxmlformats.org/drawingml/2006/main" noGrp="1"/>
          </p:cNvSpPr>
          <p:nvPr/>
        </p:nvSpPr>
        <p:spPr>
          <a:xfrm xmlns:a="http://schemas.openxmlformats.org/drawingml/2006/main">
            <a:off x="4362450" y="2819400"/>
            <a:ext cx="1162050" cy="2857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68627"/>
          </a:bodyPr>
          <a:lstStyle xmlns:a="http://schemas.openxmlformats.org/drawingml/2006/main"/>
          <a:p xmlns:a="http://schemas.openxmlformats.org/drawingml/2006/main">
            <a:pPr algn="l">
              <a:defRPr sz="1275" b="1">
                <a:solidFill>
                  <a:srgbClr val="172033"/>
                </a:solidFill>
                <a:latin typeface="Arial"/>
                <a:ea typeface="Arial"/>
                <a:cs typeface="Arial"/>
              </a:defRPr>
            </a:pPr>
            <a:r>
              <a:rPr sz="1275" b="1">
                <a:solidFill>
                  <a:srgbClr val="172033"/>
                </a:solidFill>
                <a:latin typeface="Arial"/>
                <a:ea typeface="Arial"/>
                <a:cs typeface="Arial"/>
              </a:rPr>
              <a:t>Build spreads</a:t>
            </a:r>
          </a:p>
        </p:txBody>
      </p:sp>
      <p:sp>
        <p:nvSpPr>
          <p:cNvPr id="20" name="">
            <a:extLst xmlns:a="http://schemas.openxmlformats.org/drawingml/2006/main">
              <a:ext uri="{FF2B5EF4-FFF2-40B4-BE49-F238E27FC236}">
                <a16:creationId xmlns:a16="http://schemas.microsoft.com/office/drawing/2014/main" id="{0628267A-2028-417A-B3B2-2C57C4653F9E}"/>
              </a:ext>
            </a:extLst>
          </p:cNvPr>
          <p:cNvSpPr>
            <a:spLocks xmlns:a="http://schemas.openxmlformats.org/drawingml/2006/main" noGrp="1"/>
          </p:cNvSpPr>
          <p:nvPr/>
        </p:nvSpPr>
        <p:spPr>
          <a:xfrm xmlns:a="http://schemas.openxmlformats.org/drawingml/2006/main">
            <a:off x="4362450" y="3200400"/>
            <a:ext cx="1162050" cy="5143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94027"/>
          </a:bodyPr>
          <a:lstStyle xmlns:a="http://schemas.openxmlformats.org/drawingml/2006/main"/>
          <a:p xmlns:a="http://schemas.openxmlformats.org/drawingml/2006/main">
            <a:pPr algn="l">
              <a:defRPr sz="975" b="0">
                <a:solidFill>
                  <a:srgbClr val="334155"/>
                </a:solidFill>
                <a:latin typeface="Arial"/>
                <a:ea typeface="Arial"/>
                <a:cs typeface="Arial"/>
              </a:defRPr>
            </a:pPr>
            <a:r>
              <a:rPr sz="975" b="0">
                <a:solidFill>
                  <a:srgbClr val="334155"/>
                </a:solidFill>
                <a:latin typeface="Arial"/>
                <a:ea typeface="Arial"/>
                <a:cs typeface="Arial"/>
              </a:rPr>
              <a:t>paper spread plus robustness variants</a:t>
            </a:r>
          </a:p>
        </p:txBody>
      </p:sp>
      <p:sp>
        <p:nvSpPr>
          <p:cNvPr id="21" name="">
            <a:extLst xmlns:a="http://schemas.openxmlformats.org/drawingml/2006/main">
              <a:ext uri="{FF2B5EF4-FFF2-40B4-BE49-F238E27FC236}">
                <a16:creationId xmlns:a16="http://schemas.microsoft.com/office/drawing/2014/main" id="{B77B4685-AC19-4D72-83C0-2E1A4D70B69F}"/>
              </a:ext>
            </a:extLst>
          </p:cNvPr>
          <p:cNvSpPr>
            <a:spLocks xmlns:a="http://schemas.openxmlformats.org/drawingml/2006/main" noGrp="1"/>
          </p:cNvSpPr>
          <p:nvPr/>
        </p:nvSpPr>
        <p:spPr>
          <a:xfrm xmlns:a="http://schemas.openxmlformats.org/drawingml/2006/main">
            <a:off x="5734050" y="3038475"/>
            <a:ext cx="495300" cy="28575"/>
          </a:xfrm>
          <a:prstGeom xmlns:a="http://schemas.openxmlformats.org/drawingml/2006/main" prst="rect">
            <a:avLst/>
          </a:prstGeom>
          <a:solidFill xmlns:a="http://schemas.openxmlformats.org/drawingml/2006/main">
            <a:srgbClr val="D9D5C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6F5E9C8-EB17-43CF-B293-6DF7EDF935CC}"/>
              </a:ext>
            </a:extLst>
          </p:cNvPr>
          <p:cNvSpPr>
            <a:spLocks xmlns:a="http://schemas.openxmlformats.org/drawingml/2006/main" noGrp="1"/>
          </p:cNvSpPr>
          <p:nvPr/>
        </p:nvSpPr>
        <p:spPr>
          <a:xfrm xmlns:a="http://schemas.openxmlformats.org/drawingml/2006/main">
            <a:off x="6019800" y="2190750"/>
            <a:ext cx="1466850" cy="177165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23" name="">
            <a:extLst xmlns:a="http://schemas.openxmlformats.org/drawingml/2006/main">
              <a:ext uri="{FF2B5EF4-FFF2-40B4-BE49-F238E27FC236}">
                <a16:creationId xmlns:a16="http://schemas.microsoft.com/office/drawing/2014/main" id="{60BA1858-F21B-45AB-B121-EA6D9A4BD635}"/>
              </a:ext>
            </a:extLst>
          </p:cNvPr>
          <p:cNvSpPr>
            <a:spLocks xmlns:a="http://schemas.openxmlformats.org/drawingml/2006/main" noGrp="1"/>
          </p:cNvSpPr>
          <p:nvPr/>
        </p:nvSpPr>
        <p:spPr>
          <a:xfrm xmlns:a="http://schemas.openxmlformats.org/drawingml/2006/main">
            <a:off x="6172200" y="2381250"/>
            <a:ext cx="304800" cy="304800"/>
          </a:xfrm>
          <a:prstGeom xmlns:a="http://schemas.openxmlformats.org/drawingml/2006/main" prst="rect">
            <a:avLst/>
          </a:prstGeom>
          <a:solidFill xmlns:a="http://schemas.openxmlformats.org/drawingml/2006/main">
            <a:srgbClr val="B91C1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2F9818B-FAA9-4C4B-ADBA-4B3A408C456C}"/>
              </a:ext>
            </a:extLst>
          </p:cNvPr>
          <p:cNvSpPr>
            <a:spLocks xmlns:a="http://schemas.openxmlformats.org/drawingml/2006/main" noGrp="1"/>
          </p:cNvSpPr>
          <p:nvPr/>
        </p:nvSpPr>
        <p:spPr>
          <a:xfrm xmlns:a="http://schemas.openxmlformats.org/drawingml/2006/main">
            <a:off x="6172200" y="2400300"/>
            <a:ext cx="304800" cy="247650"/>
          </a:xfrm>
          <a:prstGeom xmlns:a="http://schemas.openxmlformats.org/drawingml/2006/main" prst="rect">
            <a:avLst/>
          </a:prstGeom>
          <a:solidFill xmlns:a="http://schemas.openxmlformats.org/drawingml/2006/main">
            <a:srgbClr val="B91C1C"/>
          </a:solidFill>
          <a:ln xmlns:a="http://schemas.openxmlformats.org/drawingml/2006/main" w="0">
            <a:noFill/>
          </a:ln>
        </p:spPr>
        <p:txBody>
          <a:bodyPr xmlns:a="http://schemas.openxmlformats.org/drawingml/2006/main" wrap="square" lIns="76200" tIns="76200" rIns="76200" bIns="76200">
            <a:normAutofit fontScale="55555"/>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EB74CCBB-F741-46C0-868E-6C9BF2D8C61B}"/>
              </a:ext>
            </a:extLst>
          </p:cNvPr>
          <p:cNvSpPr>
            <a:spLocks xmlns:a="http://schemas.openxmlformats.org/drawingml/2006/main" noGrp="1"/>
          </p:cNvSpPr>
          <p:nvPr/>
        </p:nvSpPr>
        <p:spPr>
          <a:xfrm xmlns:a="http://schemas.openxmlformats.org/drawingml/2006/main">
            <a:off x="6172200" y="2819400"/>
            <a:ext cx="1162050" cy="2857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68627"/>
          </a:bodyPr>
          <a:lstStyle xmlns:a="http://schemas.openxmlformats.org/drawingml/2006/main"/>
          <a:p xmlns:a="http://schemas.openxmlformats.org/drawingml/2006/main">
            <a:pPr algn="l">
              <a:defRPr sz="1275" b="1">
                <a:solidFill>
                  <a:srgbClr val="172033"/>
                </a:solidFill>
                <a:latin typeface="Arial"/>
                <a:ea typeface="Arial"/>
                <a:cs typeface="Arial"/>
              </a:defRPr>
            </a:pPr>
            <a:r>
              <a:rPr sz="1275" b="1">
                <a:solidFill>
                  <a:srgbClr val="172033"/>
                </a:solidFill>
                <a:latin typeface="Arial"/>
                <a:ea typeface="Arial"/>
                <a:cs typeface="Arial"/>
              </a:rPr>
              <a:t>Align returns</a:t>
            </a:r>
          </a:p>
        </p:txBody>
      </p:sp>
      <p:sp>
        <p:nvSpPr>
          <p:cNvPr id="26" name="">
            <a:extLst xmlns:a="http://schemas.openxmlformats.org/drawingml/2006/main">
              <a:ext uri="{FF2B5EF4-FFF2-40B4-BE49-F238E27FC236}">
                <a16:creationId xmlns:a16="http://schemas.microsoft.com/office/drawing/2014/main" id="{FEF97BDA-98B9-4438-80E3-B19BA79964BA}"/>
              </a:ext>
            </a:extLst>
          </p:cNvPr>
          <p:cNvSpPr>
            <a:spLocks xmlns:a="http://schemas.openxmlformats.org/drawingml/2006/main" noGrp="1"/>
          </p:cNvSpPr>
          <p:nvPr/>
        </p:nvSpPr>
        <p:spPr>
          <a:xfrm xmlns:a="http://schemas.openxmlformats.org/drawingml/2006/main">
            <a:off x="6172200" y="3200400"/>
            <a:ext cx="1162050" cy="5143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100000"/>
          </a:bodyPr>
          <a:lstStyle xmlns:a="http://schemas.openxmlformats.org/drawingml/2006/main"/>
          <a:p xmlns:a="http://schemas.openxmlformats.org/drawingml/2006/main">
            <a:pPr algn="l">
              <a:defRPr sz="975" b="0">
                <a:solidFill>
                  <a:srgbClr val="334155"/>
                </a:solidFill>
                <a:latin typeface="Arial"/>
                <a:ea typeface="Arial"/>
                <a:cs typeface="Arial"/>
              </a:defRPr>
            </a:pPr>
            <a:r>
              <a:rPr sz="975" b="0">
                <a:solidFill>
                  <a:srgbClr val="334155"/>
                </a:solidFill>
                <a:latin typeface="Arial"/>
                <a:ea typeface="Arial"/>
                <a:cs typeface="Arial"/>
              </a:rPr>
              <a:t>future log returns less risk-free</a:t>
            </a:r>
          </a:p>
        </p:txBody>
      </p:sp>
      <p:sp>
        <p:nvSpPr>
          <p:cNvPr id="27" name="">
            <a:extLst xmlns:a="http://schemas.openxmlformats.org/drawingml/2006/main">
              <a:ext uri="{FF2B5EF4-FFF2-40B4-BE49-F238E27FC236}">
                <a16:creationId xmlns:a16="http://schemas.microsoft.com/office/drawing/2014/main" id="{B1301839-7C8D-485C-9D8F-17321B0DB92A}"/>
              </a:ext>
            </a:extLst>
          </p:cNvPr>
          <p:cNvSpPr>
            <a:spLocks xmlns:a="http://schemas.openxmlformats.org/drawingml/2006/main" noGrp="1"/>
          </p:cNvSpPr>
          <p:nvPr/>
        </p:nvSpPr>
        <p:spPr>
          <a:xfrm xmlns:a="http://schemas.openxmlformats.org/drawingml/2006/main">
            <a:off x="7543800" y="3038475"/>
            <a:ext cx="495300" cy="28575"/>
          </a:xfrm>
          <a:prstGeom xmlns:a="http://schemas.openxmlformats.org/drawingml/2006/main" prst="rect">
            <a:avLst/>
          </a:prstGeom>
          <a:solidFill xmlns:a="http://schemas.openxmlformats.org/drawingml/2006/main">
            <a:srgbClr val="D9D5C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CC921BF-9FD0-4B5C-8429-DAA512EC5B83}"/>
              </a:ext>
            </a:extLst>
          </p:cNvPr>
          <p:cNvSpPr>
            <a:spLocks xmlns:a="http://schemas.openxmlformats.org/drawingml/2006/main" noGrp="1"/>
          </p:cNvSpPr>
          <p:nvPr/>
        </p:nvSpPr>
        <p:spPr>
          <a:xfrm xmlns:a="http://schemas.openxmlformats.org/drawingml/2006/main">
            <a:off x="7829550" y="2190750"/>
            <a:ext cx="1466850" cy="177165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29" name="">
            <a:extLst xmlns:a="http://schemas.openxmlformats.org/drawingml/2006/main">
              <a:ext uri="{FF2B5EF4-FFF2-40B4-BE49-F238E27FC236}">
                <a16:creationId xmlns:a16="http://schemas.microsoft.com/office/drawing/2014/main" id="{57353884-AC87-4170-9997-42C545611CE5}"/>
              </a:ext>
            </a:extLst>
          </p:cNvPr>
          <p:cNvSpPr>
            <a:spLocks xmlns:a="http://schemas.openxmlformats.org/drawingml/2006/main" noGrp="1"/>
          </p:cNvSpPr>
          <p:nvPr/>
        </p:nvSpPr>
        <p:spPr>
          <a:xfrm xmlns:a="http://schemas.openxmlformats.org/drawingml/2006/main">
            <a:off x="7981950" y="2381250"/>
            <a:ext cx="304800" cy="304800"/>
          </a:xfrm>
          <a:prstGeom xmlns:a="http://schemas.openxmlformats.org/drawingml/2006/main" prst="rect">
            <a:avLst/>
          </a:prstGeom>
          <a:solidFill xmlns:a="http://schemas.openxmlformats.org/drawingml/2006/main">
            <a:srgbClr val="6D28D9"/>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73C8E35-66A6-4836-93FE-1BB65EA8AD2C}"/>
              </a:ext>
            </a:extLst>
          </p:cNvPr>
          <p:cNvSpPr>
            <a:spLocks xmlns:a="http://schemas.openxmlformats.org/drawingml/2006/main" noGrp="1"/>
          </p:cNvSpPr>
          <p:nvPr/>
        </p:nvSpPr>
        <p:spPr>
          <a:xfrm xmlns:a="http://schemas.openxmlformats.org/drawingml/2006/main">
            <a:off x="7981950" y="2400300"/>
            <a:ext cx="304800" cy="247650"/>
          </a:xfrm>
          <a:prstGeom xmlns:a="http://schemas.openxmlformats.org/drawingml/2006/main" prst="rect">
            <a:avLst/>
          </a:prstGeom>
          <a:solidFill xmlns:a="http://schemas.openxmlformats.org/drawingml/2006/main">
            <a:srgbClr val="6D28D9"/>
          </a:solidFill>
          <a:ln xmlns:a="http://schemas.openxmlformats.org/drawingml/2006/main" w="0">
            <a:noFill/>
          </a:ln>
        </p:spPr>
        <p:txBody>
          <a:bodyPr xmlns:a="http://schemas.openxmlformats.org/drawingml/2006/main" wrap="square" lIns="76200" tIns="76200" rIns="76200" bIns="76200">
            <a:normAutofit fontScale="55555"/>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5</a:t>
            </a:r>
          </a:p>
        </p:txBody>
      </p:sp>
      <p:sp>
        <p:nvSpPr>
          <p:cNvPr id="31" name="">
            <a:extLst xmlns:a="http://schemas.openxmlformats.org/drawingml/2006/main">
              <a:ext uri="{FF2B5EF4-FFF2-40B4-BE49-F238E27FC236}">
                <a16:creationId xmlns:a16="http://schemas.microsoft.com/office/drawing/2014/main" id="{F509F44F-DFEF-4220-B9E2-27603308C3CB}"/>
              </a:ext>
            </a:extLst>
          </p:cNvPr>
          <p:cNvSpPr>
            <a:spLocks xmlns:a="http://schemas.openxmlformats.org/drawingml/2006/main" noGrp="1"/>
          </p:cNvSpPr>
          <p:nvPr/>
        </p:nvSpPr>
        <p:spPr>
          <a:xfrm xmlns:a="http://schemas.openxmlformats.org/drawingml/2006/main">
            <a:off x="7981950" y="2819400"/>
            <a:ext cx="1162050" cy="2857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68627"/>
          </a:bodyPr>
          <a:lstStyle xmlns:a="http://schemas.openxmlformats.org/drawingml/2006/main"/>
          <a:p xmlns:a="http://schemas.openxmlformats.org/drawingml/2006/main">
            <a:pPr algn="l">
              <a:defRPr sz="1275" b="1">
                <a:solidFill>
                  <a:srgbClr val="172033"/>
                </a:solidFill>
                <a:latin typeface="Arial"/>
                <a:ea typeface="Arial"/>
                <a:cs typeface="Arial"/>
              </a:defRPr>
            </a:pPr>
            <a:r>
              <a:rPr sz="1275" b="1">
                <a:solidFill>
                  <a:srgbClr val="172033"/>
                </a:solidFill>
                <a:latin typeface="Arial"/>
                <a:ea typeface="Arial"/>
                <a:cs typeface="Arial"/>
              </a:rPr>
              <a:t>Regressions</a:t>
            </a:r>
          </a:p>
        </p:txBody>
      </p:sp>
      <p:sp>
        <p:nvSpPr>
          <p:cNvPr id="32" name="">
            <a:extLst xmlns:a="http://schemas.openxmlformats.org/drawingml/2006/main">
              <a:ext uri="{FF2B5EF4-FFF2-40B4-BE49-F238E27FC236}">
                <a16:creationId xmlns:a16="http://schemas.microsoft.com/office/drawing/2014/main" id="{5CA78F6B-2ACF-461F-AFC6-A4761B2944F4}"/>
              </a:ext>
            </a:extLst>
          </p:cNvPr>
          <p:cNvSpPr>
            <a:spLocks xmlns:a="http://schemas.openxmlformats.org/drawingml/2006/main" noGrp="1"/>
          </p:cNvSpPr>
          <p:nvPr/>
        </p:nvSpPr>
        <p:spPr>
          <a:xfrm xmlns:a="http://schemas.openxmlformats.org/drawingml/2006/main">
            <a:off x="7981950" y="3200400"/>
            <a:ext cx="1162050" cy="5143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87304"/>
          </a:bodyPr>
          <a:lstStyle xmlns:a="http://schemas.openxmlformats.org/drawingml/2006/main"/>
          <a:p xmlns:a="http://schemas.openxmlformats.org/drawingml/2006/main">
            <a:pPr algn="l">
              <a:defRPr sz="975" b="0">
                <a:solidFill>
                  <a:srgbClr val="334155"/>
                </a:solidFill>
                <a:latin typeface="Arial"/>
                <a:ea typeface="Arial"/>
                <a:cs typeface="Arial"/>
              </a:defRPr>
            </a:pPr>
            <a:r>
              <a:rPr sz="975" b="0">
                <a:solidFill>
                  <a:srgbClr val="334155"/>
                </a:solidFill>
                <a:latin typeface="Arial"/>
                <a:ea typeface="Arial"/>
                <a:cs typeface="Arial"/>
              </a:rPr>
              <a:t>daily HAC and non-overlap horizons</a:t>
            </a:r>
          </a:p>
        </p:txBody>
      </p:sp>
      <p:sp>
        <p:nvSpPr>
          <p:cNvPr id="33" name="">
            <a:extLst xmlns:a="http://schemas.openxmlformats.org/drawingml/2006/main">
              <a:ext uri="{FF2B5EF4-FFF2-40B4-BE49-F238E27FC236}">
                <a16:creationId xmlns:a16="http://schemas.microsoft.com/office/drawing/2014/main" id="{12CB0DFC-6EC6-42DF-A923-BF24E4E4FDF6}"/>
              </a:ext>
            </a:extLst>
          </p:cNvPr>
          <p:cNvSpPr>
            <a:spLocks xmlns:a="http://schemas.openxmlformats.org/drawingml/2006/main" noGrp="1"/>
          </p:cNvSpPr>
          <p:nvPr/>
        </p:nvSpPr>
        <p:spPr>
          <a:xfrm xmlns:a="http://schemas.openxmlformats.org/drawingml/2006/main">
            <a:off x="9353550" y="3038475"/>
            <a:ext cx="495300" cy="28575"/>
          </a:xfrm>
          <a:prstGeom xmlns:a="http://schemas.openxmlformats.org/drawingml/2006/main" prst="rect">
            <a:avLst/>
          </a:prstGeom>
          <a:solidFill xmlns:a="http://schemas.openxmlformats.org/drawingml/2006/main">
            <a:srgbClr val="D9D5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D82B6F8E-6D5A-4219-946F-2B1F5A02A135}"/>
              </a:ext>
            </a:extLst>
          </p:cNvPr>
          <p:cNvSpPr>
            <a:spLocks xmlns:a="http://schemas.openxmlformats.org/drawingml/2006/main" noGrp="1"/>
          </p:cNvSpPr>
          <p:nvPr/>
        </p:nvSpPr>
        <p:spPr>
          <a:xfrm xmlns:a="http://schemas.openxmlformats.org/drawingml/2006/main">
            <a:off x="9639300" y="2190750"/>
            <a:ext cx="1466850" cy="177165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35" name="">
            <a:extLst xmlns:a="http://schemas.openxmlformats.org/drawingml/2006/main">
              <a:ext uri="{FF2B5EF4-FFF2-40B4-BE49-F238E27FC236}">
                <a16:creationId xmlns:a16="http://schemas.microsoft.com/office/drawing/2014/main" id="{D9848B54-CB99-4FD2-B46D-60D49015303B}"/>
              </a:ext>
            </a:extLst>
          </p:cNvPr>
          <p:cNvSpPr>
            <a:spLocks xmlns:a="http://schemas.openxmlformats.org/drawingml/2006/main" noGrp="1"/>
          </p:cNvSpPr>
          <p:nvPr/>
        </p:nvSpPr>
        <p:spPr>
          <a:xfrm xmlns:a="http://schemas.openxmlformats.org/drawingml/2006/main">
            <a:off x="9791700" y="2381250"/>
            <a:ext cx="304800" cy="304800"/>
          </a:xfrm>
          <a:prstGeom xmlns:a="http://schemas.openxmlformats.org/drawingml/2006/main" prst="rect">
            <a:avLst/>
          </a:prstGeom>
          <a:solidFill xmlns:a="http://schemas.openxmlformats.org/drawingml/2006/main">
            <a:srgbClr val="17203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9D9D754A-9087-43F9-B529-5F4BA0688E3A}"/>
              </a:ext>
            </a:extLst>
          </p:cNvPr>
          <p:cNvSpPr>
            <a:spLocks xmlns:a="http://schemas.openxmlformats.org/drawingml/2006/main" noGrp="1"/>
          </p:cNvSpPr>
          <p:nvPr/>
        </p:nvSpPr>
        <p:spPr>
          <a:xfrm xmlns:a="http://schemas.openxmlformats.org/drawingml/2006/main">
            <a:off x="9791700" y="2400300"/>
            <a:ext cx="304800" cy="247650"/>
          </a:xfrm>
          <a:prstGeom xmlns:a="http://schemas.openxmlformats.org/drawingml/2006/main" prst="rect">
            <a:avLst/>
          </a:prstGeom>
          <a:solidFill xmlns:a="http://schemas.openxmlformats.org/drawingml/2006/main">
            <a:srgbClr val="172033"/>
          </a:solidFill>
          <a:ln xmlns:a="http://schemas.openxmlformats.org/drawingml/2006/main" w="0">
            <a:noFill/>
          </a:ln>
        </p:spPr>
        <p:txBody>
          <a:bodyPr xmlns:a="http://schemas.openxmlformats.org/drawingml/2006/main" wrap="square" lIns="76200" tIns="76200" rIns="76200" bIns="76200">
            <a:normAutofit fontScale="55555"/>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6</a:t>
            </a:r>
          </a:p>
        </p:txBody>
      </p:sp>
      <p:sp>
        <p:nvSpPr>
          <p:cNvPr id="37" name="">
            <a:extLst xmlns:a="http://schemas.openxmlformats.org/drawingml/2006/main">
              <a:ext uri="{FF2B5EF4-FFF2-40B4-BE49-F238E27FC236}">
                <a16:creationId xmlns:a16="http://schemas.microsoft.com/office/drawing/2014/main" id="{19AF4F86-C201-46EF-91E0-AD0FE73ECE82}"/>
              </a:ext>
            </a:extLst>
          </p:cNvPr>
          <p:cNvSpPr>
            <a:spLocks xmlns:a="http://schemas.openxmlformats.org/drawingml/2006/main" noGrp="1"/>
          </p:cNvSpPr>
          <p:nvPr/>
        </p:nvSpPr>
        <p:spPr>
          <a:xfrm xmlns:a="http://schemas.openxmlformats.org/drawingml/2006/main">
            <a:off x="9791700" y="2819400"/>
            <a:ext cx="1162050" cy="2857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68627"/>
          </a:bodyPr>
          <a:lstStyle xmlns:a="http://schemas.openxmlformats.org/drawingml/2006/main"/>
          <a:p xmlns:a="http://schemas.openxmlformats.org/drawingml/2006/main">
            <a:pPr algn="l">
              <a:defRPr sz="1275" b="1">
                <a:solidFill>
                  <a:srgbClr val="172033"/>
                </a:solidFill>
                <a:latin typeface="Arial"/>
                <a:ea typeface="Arial"/>
                <a:cs typeface="Arial"/>
              </a:defRPr>
            </a:pPr>
            <a:r>
              <a:rPr sz="1275" b="1">
                <a:solidFill>
                  <a:srgbClr val="172033"/>
                </a:solidFill>
                <a:latin typeface="Arial"/>
                <a:ea typeface="Arial"/>
                <a:cs typeface="Arial"/>
              </a:rPr>
              <a:t>Timing test</a:t>
            </a:r>
          </a:p>
        </p:txBody>
      </p:sp>
      <p:sp>
        <p:nvSpPr>
          <p:cNvPr id="38" name="">
            <a:extLst xmlns:a="http://schemas.openxmlformats.org/drawingml/2006/main">
              <a:ext uri="{FF2B5EF4-FFF2-40B4-BE49-F238E27FC236}">
                <a16:creationId xmlns:a16="http://schemas.microsoft.com/office/drawing/2014/main" id="{30070C34-1FBC-4FA3-8F1E-155E7D0B55BC}"/>
              </a:ext>
            </a:extLst>
          </p:cNvPr>
          <p:cNvSpPr>
            <a:spLocks xmlns:a="http://schemas.openxmlformats.org/drawingml/2006/main" noGrp="1"/>
          </p:cNvSpPr>
          <p:nvPr/>
        </p:nvSpPr>
        <p:spPr>
          <a:xfrm xmlns:a="http://schemas.openxmlformats.org/drawingml/2006/main">
            <a:off x="9791700" y="3200400"/>
            <a:ext cx="1162050" cy="5143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98442"/>
          </a:bodyPr>
          <a:lstStyle xmlns:a="http://schemas.openxmlformats.org/drawingml/2006/main"/>
          <a:p xmlns:a="http://schemas.openxmlformats.org/drawingml/2006/main">
            <a:pPr algn="l">
              <a:defRPr sz="975" b="0">
                <a:solidFill>
                  <a:srgbClr val="334155"/>
                </a:solidFill>
                <a:latin typeface="Arial"/>
                <a:ea typeface="Arial"/>
                <a:cs typeface="Arial"/>
              </a:defRPr>
            </a:pPr>
            <a:r>
              <a:rPr sz="975" b="0">
                <a:solidFill>
                  <a:srgbClr val="334155"/>
                </a:solidFill>
                <a:latin typeface="Arial"/>
                <a:ea typeface="Arial"/>
                <a:cs typeface="Arial"/>
              </a:rPr>
              <a:t>expanding-window forecast strategy</a:t>
            </a:r>
          </a:p>
        </p:txBody>
      </p:sp>
      <p:sp>
        <p:nvSpPr>
          <p:cNvPr id="39" name="">
            <a:extLst xmlns:a="http://schemas.openxmlformats.org/drawingml/2006/main">
              <a:ext uri="{FF2B5EF4-FFF2-40B4-BE49-F238E27FC236}">
                <a16:creationId xmlns:a16="http://schemas.microsoft.com/office/drawing/2014/main" id="{70B0960E-0BD9-42D5-B558-04BBA281B15A}"/>
              </a:ext>
            </a:extLst>
          </p:cNvPr>
          <p:cNvSpPr>
            <a:spLocks xmlns:a="http://schemas.openxmlformats.org/drawingml/2006/main" noGrp="1"/>
          </p:cNvSpPr>
          <p:nvPr/>
        </p:nvSpPr>
        <p:spPr>
          <a:xfrm xmlns:a="http://schemas.openxmlformats.org/drawingml/2006/main">
            <a:off x="781050" y="4705350"/>
            <a:ext cx="4762500" cy="876300"/>
          </a:xfrm>
          <a:prstGeom xmlns:a="http://schemas.openxmlformats.org/drawingml/2006/main" prst="rect">
            <a:avLst/>
          </a:prstGeom>
          <a:solidFill xmlns:a="http://schemas.openxmlformats.org/drawingml/2006/main">
            <a:srgbClr val="EFF6FF"/>
          </a:solidFill>
          <a:ln xmlns:a="http://schemas.openxmlformats.org/drawingml/2006/main" w="9525">
            <a:solidFill>
              <a:srgbClr val="1D4ED8"/>
            </a:solidFill>
          </a:ln>
        </p:spPr>
      </p:sp>
      <p:sp>
        <p:nvSpPr>
          <p:cNvPr id="40" name="">
            <a:extLst xmlns:a="http://schemas.openxmlformats.org/drawingml/2006/main">
              <a:ext uri="{FF2B5EF4-FFF2-40B4-BE49-F238E27FC236}">
                <a16:creationId xmlns:a16="http://schemas.microsoft.com/office/drawing/2014/main" id="{C388DA68-6D9F-4BB7-AD4D-CC2AAA78EA97}"/>
              </a:ext>
            </a:extLst>
          </p:cNvPr>
          <p:cNvSpPr>
            <a:spLocks xmlns:a="http://schemas.openxmlformats.org/drawingml/2006/main" noGrp="1"/>
          </p:cNvSpPr>
          <p:nvPr/>
        </p:nvSpPr>
        <p:spPr>
          <a:xfrm xmlns:a="http://schemas.openxmlformats.org/drawingml/2006/main">
            <a:off x="1028700" y="4857750"/>
            <a:ext cx="1809750" cy="228600"/>
          </a:xfrm>
          <a:prstGeom xmlns:a="http://schemas.openxmlformats.org/drawingml/2006/main" prst="rect">
            <a:avLst/>
          </a:prstGeom>
          <a:solidFill xmlns:a="http://schemas.openxmlformats.org/drawingml/2006/main">
            <a:srgbClr val="EFF6FF"/>
          </a:solidFill>
          <a:ln xmlns:a="http://schemas.openxmlformats.org/drawingml/2006/main" w="0">
            <a:noFill/>
          </a:ln>
        </p:spPr>
        <p:txBody>
          <a:bodyPr xmlns:a="http://schemas.openxmlformats.org/drawingml/2006/main" wrap="square" lIns="76200" tIns="76200" rIns="76200" bIns="76200">
            <a:normAutofit fontScale="39216"/>
          </a:bodyPr>
          <a:lstStyle xmlns:a="http://schemas.openxmlformats.org/drawingml/2006/main"/>
          <a:p xmlns:a="http://schemas.openxmlformats.org/drawingml/2006/main">
            <a:pPr algn="l">
              <a:defRPr sz="1275" b="1">
                <a:solidFill>
                  <a:srgbClr val="1D4ED8"/>
                </a:solidFill>
                <a:latin typeface="Arial"/>
                <a:ea typeface="Arial"/>
                <a:cs typeface="Arial"/>
              </a:defRPr>
            </a:pPr>
            <a:r>
              <a:rPr sz="1275" b="1">
                <a:solidFill>
                  <a:srgbClr val="1D4ED8"/>
                </a:solidFill>
                <a:latin typeface="Arial"/>
                <a:ea typeface="Arial"/>
                <a:cs typeface="Arial"/>
              </a:rPr>
              <a:t>Fair comparison</a:t>
            </a:r>
          </a:p>
        </p:txBody>
      </p:sp>
      <p:sp>
        <p:nvSpPr>
          <p:cNvPr id="41" name="">
            <a:extLst xmlns:a="http://schemas.openxmlformats.org/drawingml/2006/main">
              <a:ext uri="{FF2B5EF4-FFF2-40B4-BE49-F238E27FC236}">
                <a16:creationId xmlns:a16="http://schemas.microsoft.com/office/drawing/2014/main" id="{460BA9B8-4123-461C-B753-24D5BE57A62A}"/>
              </a:ext>
            </a:extLst>
          </p:cNvPr>
          <p:cNvSpPr>
            <a:spLocks xmlns:a="http://schemas.openxmlformats.org/drawingml/2006/main" noGrp="1"/>
          </p:cNvSpPr>
          <p:nvPr/>
        </p:nvSpPr>
        <p:spPr>
          <a:xfrm xmlns:a="http://schemas.openxmlformats.org/drawingml/2006/main">
            <a:off x="1028700" y="5162550"/>
            <a:ext cx="4057650" cy="247650"/>
          </a:xfrm>
          <a:prstGeom xmlns:a="http://schemas.openxmlformats.org/drawingml/2006/main" prst="rect">
            <a:avLst/>
          </a:prstGeom>
          <a:solidFill xmlns:a="http://schemas.openxmlformats.org/drawingml/2006/main">
            <a:srgbClr val="EFF6FF"/>
          </a:solidFill>
          <a:ln xmlns:a="http://schemas.openxmlformats.org/drawingml/2006/main" w="0">
            <a:noFill/>
          </a:ln>
        </p:spPr>
        <p:txBody>
          <a:bodyPr xmlns:a="http://schemas.openxmlformats.org/drawingml/2006/main" wrap="square" lIns="76200" tIns="76200" rIns="76200" bIns="76200">
            <a:normAutofit fontScale="46296"/>
          </a:bodyPr>
          <a:lstStyle xmlns:a="http://schemas.openxmlformats.org/drawingml/2006/main"/>
          <a:p xmlns:a="http://schemas.openxmlformats.org/drawingml/2006/main">
            <a:pPr algn="l">
              <a:defRPr sz="1350" b="0">
                <a:solidFill>
                  <a:srgbClr val="334155"/>
                </a:solidFill>
                <a:latin typeface="Arial"/>
                <a:ea typeface="Arial"/>
                <a:cs typeface="Arial"/>
              </a:defRPr>
            </a:pPr>
            <a:r>
              <a:rPr sz="1350" b="0">
                <a:solidFill>
                  <a:srgbClr val="334155"/>
                </a:solidFill>
                <a:latin typeface="Arial"/>
                <a:ea typeface="Arial"/>
                <a:cs typeface="Arial"/>
              </a:rPr>
              <a:t>Cash earns RiskFreeRate / 252 and return tests use excess returns.</a:t>
            </a:r>
          </a:p>
        </p:txBody>
      </p:sp>
      <p:sp>
        <p:nvSpPr>
          <p:cNvPr id="42" name="">
            <a:extLst xmlns:a="http://schemas.openxmlformats.org/drawingml/2006/main">
              <a:ext uri="{FF2B5EF4-FFF2-40B4-BE49-F238E27FC236}">
                <a16:creationId xmlns:a16="http://schemas.microsoft.com/office/drawing/2014/main" id="{80E42172-EBC3-45C5-867E-93B64717F3B3}"/>
              </a:ext>
            </a:extLst>
          </p:cNvPr>
          <p:cNvSpPr>
            <a:spLocks xmlns:a="http://schemas.openxmlformats.org/drawingml/2006/main" noGrp="1"/>
          </p:cNvSpPr>
          <p:nvPr/>
        </p:nvSpPr>
        <p:spPr>
          <a:xfrm xmlns:a="http://schemas.openxmlformats.org/drawingml/2006/main">
            <a:off x="6115050" y="4705350"/>
            <a:ext cx="4762500" cy="876300"/>
          </a:xfrm>
          <a:prstGeom xmlns:a="http://schemas.openxmlformats.org/drawingml/2006/main" prst="rect">
            <a:avLst/>
          </a:prstGeom>
          <a:solidFill xmlns:a="http://schemas.openxmlformats.org/drawingml/2006/main">
            <a:srgbClr val="FFF7ED"/>
          </a:solidFill>
          <a:ln xmlns:a="http://schemas.openxmlformats.org/drawingml/2006/main" w="9525">
            <a:solidFill>
              <a:srgbClr val="C2410C"/>
            </a:solidFill>
          </a:ln>
        </p:spPr>
      </p:sp>
      <p:sp>
        <p:nvSpPr>
          <p:cNvPr id="43" name="">
            <a:extLst xmlns:a="http://schemas.openxmlformats.org/drawingml/2006/main">
              <a:ext uri="{FF2B5EF4-FFF2-40B4-BE49-F238E27FC236}">
                <a16:creationId xmlns:a16="http://schemas.microsoft.com/office/drawing/2014/main" id="{D9927DC6-8127-4515-BC6C-585BBC26E063}"/>
              </a:ext>
            </a:extLst>
          </p:cNvPr>
          <p:cNvSpPr>
            <a:spLocks xmlns:a="http://schemas.openxmlformats.org/drawingml/2006/main" noGrp="1"/>
          </p:cNvSpPr>
          <p:nvPr/>
        </p:nvSpPr>
        <p:spPr>
          <a:xfrm xmlns:a="http://schemas.openxmlformats.org/drawingml/2006/main">
            <a:off x="6362700" y="4857750"/>
            <a:ext cx="2095500" cy="228600"/>
          </a:xfrm>
          <a:prstGeom xmlns:a="http://schemas.openxmlformats.org/drawingml/2006/main" prst="rect">
            <a:avLst/>
          </a:prstGeom>
          <a:solidFill xmlns:a="http://schemas.openxmlformats.org/drawingml/2006/main">
            <a:srgbClr val="FFF7ED"/>
          </a:solidFill>
          <a:ln xmlns:a="http://schemas.openxmlformats.org/drawingml/2006/main" w="0">
            <a:noFill/>
          </a:ln>
        </p:spPr>
        <p:txBody>
          <a:bodyPr xmlns:a="http://schemas.openxmlformats.org/drawingml/2006/main" wrap="square" lIns="76200" tIns="76200" rIns="76200" bIns="76200">
            <a:normAutofit fontScale="39216"/>
          </a:bodyPr>
          <a:lstStyle xmlns:a="http://schemas.openxmlformats.org/drawingml/2006/main"/>
          <a:p xmlns:a="http://schemas.openxmlformats.org/drawingml/2006/main">
            <a:pPr algn="l">
              <a:defRPr sz="1275" b="1">
                <a:solidFill>
                  <a:srgbClr val="C2410C"/>
                </a:solidFill>
                <a:latin typeface="Arial"/>
                <a:ea typeface="Arial"/>
                <a:cs typeface="Arial"/>
              </a:defRPr>
            </a:pPr>
            <a:r>
              <a:rPr sz="1275" b="1">
                <a:solidFill>
                  <a:srgbClr val="C2410C"/>
                </a:solidFill>
                <a:latin typeface="Arial"/>
                <a:ea typeface="Arial"/>
                <a:cs typeface="Arial"/>
              </a:rPr>
              <a:t>Main data limitation</a:t>
            </a:r>
          </a:p>
        </p:txBody>
      </p:sp>
      <p:sp>
        <p:nvSpPr>
          <p:cNvPr id="44" name="">
            <a:extLst xmlns:a="http://schemas.openxmlformats.org/drawingml/2006/main">
              <a:ext uri="{FF2B5EF4-FFF2-40B4-BE49-F238E27FC236}">
                <a16:creationId xmlns:a16="http://schemas.microsoft.com/office/drawing/2014/main" id="{B5883E2F-544A-4A02-8535-CD7A25648B2A}"/>
              </a:ext>
            </a:extLst>
          </p:cNvPr>
          <p:cNvSpPr>
            <a:spLocks xmlns:a="http://schemas.openxmlformats.org/drawingml/2006/main" noGrp="1"/>
          </p:cNvSpPr>
          <p:nvPr/>
        </p:nvSpPr>
        <p:spPr>
          <a:xfrm xmlns:a="http://schemas.openxmlformats.org/drawingml/2006/main">
            <a:off x="6362700" y="5162550"/>
            <a:ext cx="4095750" cy="342900"/>
          </a:xfrm>
          <a:prstGeom xmlns:a="http://schemas.openxmlformats.org/drawingml/2006/main" prst="rect">
            <a:avLst/>
          </a:prstGeom>
          <a:solidFill xmlns:a="http://schemas.openxmlformats.org/drawingml/2006/main">
            <a:srgbClr val="FFF7ED"/>
          </a:solidFill>
          <a:ln xmlns:a="http://schemas.openxmlformats.org/drawingml/2006/main" w="0">
            <a:noFill/>
          </a:ln>
        </p:spPr>
        <p:txBody>
          <a:bodyPr xmlns:a="http://schemas.openxmlformats.org/drawingml/2006/main" wrap="square" lIns="76200" tIns="76200" rIns="76200" bIns="76200">
            <a:normAutofit fontScale="49264"/>
          </a:bodyPr>
          <a:lstStyle xmlns:a="http://schemas.openxmlformats.org/drawingml/2006/main"/>
          <a:p xmlns:a="http://schemas.openxmlformats.org/drawingml/2006/main">
            <a:pPr algn="l">
              <a:defRPr sz="1350" b="0">
                <a:solidFill>
                  <a:srgbClr val="334155"/>
                </a:solidFill>
                <a:latin typeface="Arial"/>
                <a:ea typeface="Arial"/>
                <a:cs typeface="Arial"/>
              </a:defRPr>
            </a:pPr>
            <a:r>
              <a:rPr sz="1350" b="0">
                <a:solidFill>
                  <a:srgbClr val="334155"/>
                </a:solidFill>
                <a:latin typeface="Arial"/>
                <a:ea typeface="Arial"/>
                <a:cs typeface="Arial"/>
              </a:rPr>
              <a:t>No option volume or open interest, so the paper's demand-weighted variants cannot be replicated exactly.</a:t>
            </a:r>
          </a:p>
        </p:txBody>
      </p:sp>
      <p:sp>
        <p:nvSpPr>
          <p:cNvPr id="45" name="">
            <a:extLst xmlns:a="http://schemas.openxmlformats.org/drawingml/2006/main">
              <a:ext uri="{FF2B5EF4-FFF2-40B4-BE49-F238E27FC236}">
                <a16:creationId xmlns:a16="http://schemas.microsoft.com/office/drawing/2014/main" id="{BB29F365-BCEC-4646-9468-BEE3ACE1E856}"/>
              </a:ext>
            </a:extLst>
          </p:cNvPr>
          <p:cNvSpPr>
            <a:spLocks xmlns:a="http://schemas.openxmlformats.org/drawingml/2006/main" noGrp="1"/>
          </p:cNvSpPr>
          <p:nvPr/>
        </p:nvSpPr>
        <p:spPr>
          <a:xfrm xmlns:a="http://schemas.openxmlformats.org/drawingml/2006/main">
            <a:off x="457200" y="6496050"/>
            <a:ext cx="8382000" cy="2095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750" b="0">
                <a:solidFill>
                  <a:srgbClr val="64748B"/>
                </a:solidFill>
                <a:latin typeface="Arial"/>
                <a:ea typeface="Arial"/>
                <a:cs typeface="Arial"/>
              </a:defRPr>
            </a:pPr>
            <a:r>
              <a:rPr sz="750" b="0">
                <a:solidFill>
                  <a:srgbClr val="64748B"/>
                </a:solidFill>
                <a:latin typeface="Arial"/>
                <a:ea typeface="Arial"/>
                <a:cs typeface="Arial"/>
              </a:rPr>
              <a:t>Source: local replication of Atilgan, Bali, and Demirtas (2015) signal on OptionDataNM2026.csv</a:t>
            </a:r>
          </a:p>
        </p:txBody>
      </p:sp>
      <p:sp>
        <p:nvSpPr>
          <p:cNvPr id="46" name="">
            <a:extLst xmlns:a="http://schemas.openxmlformats.org/drawingml/2006/main">
              <a:ext uri="{FF2B5EF4-FFF2-40B4-BE49-F238E27FC236}">
                <a16:creationId xmlns:a16="http://schemas.microsoft.com/office/drawing/2014/main" id="{29F49242-4D68-44E5-9CF8-D3C96B2A4295}"/>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sz="750" b="0">
                <a:solidFill>
                  <a:srgbClr val="64748B"/>
                </a:solidFill>
                <a:latin typeface="Arial"/>
                <a:ea typeface="Arial"/>
                <a:cs typeface="Arial"/>
              </a:defRPr>
            </a:pPr>
            <a:r>
              <a:rPr sz="750" b="0">
                <a:solidFill>
                  <a:srgbClr val="64748B"/>
                </a:solidFill>
                <a:latin typeface="Arial"/>
                <a:ea typeface="Arial"/>
                <a:cs typeface="Arial"/>
              </a:rPr>
              <a:t>3</a:t>
            </a:r>
          </a:p>
        </p:txBody>
      </p:sp>
    </p:spTree>
    <p:extLst>
      <p:ext uri="{BB962C8B-B14F-4D97-AF65-F5344CB8AC3E}">
        <p14:creationId xmlns:p14="http://schemas.microsoft.com/office/powerpoint/2010/main" val="148323940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A25C707-FD37-45DE-97A3-7DD25FFCCA4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ln>
        </p:spPr>
      </p:sp>
      <p:sp>
        <p:nvSpPr>
          <p:cNvPr id="2" name="">
            <a:extLst xmlns:a="http://schemas.openxmlformats.org/drawingml/2006/main">
              <a:ext uri="{FF2B5EF4-FFF2-40B4-BE49-F238E27FC236}">
                <a16:creationId xmlns:a16="http://schemas.microsoft.com/office/drawing/2014/main" id="{81CB4175-8035-452F-B2DD-64D3A07B968B}"/>
              </a:ext>
            </a:extLst>
          </p:cNvPr>
          <p:cNvSpPr>
            <a:spLocks xmlns:a="http://schemas.openxmlformats.org/drawingml/2006/main" noGrp="1"/>
          </p:cNvSpPr>
          <p:nvPr/>
        </p:nvSpPr>
        <p:spPr>
          <a:xfrm xmlns:a="http://schemas.openxmlformats.org/drawingml/2006/main">
            <a:off x="514350" y="323850"/>
            <a:ext cx="3048000" cy="26670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38100" rIns="0" bIns="0">
            <a:normAutofit fontScale="100000"/>
          </a:bodyPr>
          <a:lstStyle xmlns:a="http://schemas.openxmlformats.org/drawingml/2006/main"/>
          <a:p xmlns:a="http://schemas.openxmlformats.org/drawingml/2006/main">
            <a:pPr algn="l">
              <a:defRPr sz="975" b="1">
                <a:solidFill>
                  <a:srgbClr val="C2410C"/>
                </a:solidFill>
                <a:latin typeface="Arial"/>
                <a:ea typeface="Arial"/>
                <a:cs typeface="Arial"/>
              </a:defRPr>
            </a:pPr>
            <a:r>
              <a:rPr sz="975" b="1">
                <a:solidFill>
                  <a:srgbClr val="C2410C"/>
                </a:solidFill>
                <a:latin typeface="Arial"/>
                <a:ea typeface="Arial"/>
                <a:cs typeface="Arial"/>
              </a:rPr>
              <a:t>PREDICTIVE EVIDENCE</a:t>
            </a:r>
          </a:p>
        </p:txBody>
      </p:sp>
      <p:sp>
        <p:nvSpPr>
          <p:cNvPr id="3" name="">
            <a:extLst xmlns:a="http://schemas.openxmlformats.org/drawingml/2006/main">
              <a:ext uri="{FF2B5EF4-FFF2-40B4-BE49-F238E27FC236}">
                <a16:creationId xmlns:a16="http://schemas.microsoft.com/office/drawing/2014/main" id="{211EEF66-0D85-4840-88EB-7EA0CF2B3BD9}"/>
              </a:ext>
            </a:extLst>
          </p:cNvPr>
          <p:cNvSpPr>
            <a:spLocks xmlns:a="http://schemas.openxmlformats.org/drawingml/2006/main" noGrp="1"/>
          </p:cNvSpPr>
          <p:nvPr/>
        </p:nvSpPr>
        <p:spPr>
          <a:xfrm xmlns:a="http://schemas.openxmlformats.org/drawingml/2006/main">
            <a:off x="457200" y="628650"/>
            <a:ext cx="8858250" cy="91440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3000" b="1">
                <a:solidFill>
                  <a:srgbClr val="172033"/>
                </a:solidFill>
                <a:latin typeface="Arial"/>
                <a:ea typeface="Arial"/>
                <a:cs typeface="Arial"/>
              </a:defRPr>
            </a:pPr>
            <a:r>
              <a:rPr sz="3000" b="1">
                <a:solidFill>
                  <a:srgbClr val="172033"/>
                </a:solidFill>
                <a:latin typeface="Arial"/>
                <a:ea typeface="Arial"/>
                <a:cs typeface="Arial"/>
              </a:rPr>
              <a:t>The main spread keeps the negative sign, but the result is not statistically strong.</a:t>
            </a:r>
          </a:p>
        </p:txBody>
      </p:sp>
      <p:sp>
        <p:nvSpPr>
          <p:cNvPr id="4" name="">
            <a:extLst xmlns:a="http://schemas.openxmlformats.org/drawingml/2006/main">
              <a:ext uri="{FF2B5EF4-FFF2-40B4-BE49-F238E27FC236}">
                <a16:creationId xmlns:a16="http://schemas.microsoft.com/office/drawing/2014/main" id="{954DA826-17B0-4A41-8B21-C7BA280369BB}"/>
              </a:ext>
            </a:extLst>
          </p:cNvPr>
          <p:cNvSpPr>
            <a:spLocks xmlns:a="http://schemas.openxmlformats.org/drawingml/2006/main" noGrp="1"/>
          </p:cNvSpPr>
          <p:nvPr/>
        </p:nvSpPr>
        <p:spPr>
          <a:xfrm xmlns:a="http://schemas.openxmlformats.org/drawingml/2006/main">
            <a:off x="552450" y="2000250"/>
            <a:ext cx="7239000" cy="276225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5" name="">
            <a:extLst xmlns:a="http://schemas.openxmlformats.org/drawingml/2006/main">
              <a:ext uri="{FF2B5EF4-FFF2-40B4-BE49-F238E27FC236}">
                <a16:creationId xmlns:a16="http://schemas.microsoft.com/office/drawing/2014/main" id="{8DFA05F4-F4A2-4F89-99D6-F7C1EA9C6D70}"/>
              </a:ext>
            </a:extLst>
          </p:cNvPr>
          <p:cNvSpPr>
            <a:spLocks xmlns:a="http://schemas.openxmlformats.org/drawingml/2006/main" noGrp="1"/>
          </p:cNvSpPr>
          <p:nvPr/>
        </p:nvSpPr>
        <p:spPr>
          <a:xfrm xmlns:a="http://schemas.openxmlformats.org/drawingml/2006/main">
            <a:off x="819150" y="2190750"/>
            <a:ext cx="3429000" cy="2476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6296"/>
          </a:bodyPr>
          <a:lstStyle xmlns:a="http://schemas.openxmlformats.org/drawingml/2006/main"/>
          <a:p xmlns:a="http://schemas.openxmlformats.org/drawingml/2006/main">
            <a:pPr algn="l">
              <a:defRPr sz="1350" b="1">
                <a:solidFill>
                  <a:srgbClr val="172033"/>
                </a:solidFill>
                <a:latin typeface="Arial"/>
                <a:ea typeface="Arial"/>
                <a:cs typeface="Arial"/>
              </a:defRPr>
            </a:pPr>
            <a:r>
              <a:rPr sz="1350" b="1">
                <a:solidFill>
                  <a:srgbClr val="172033"/>
                </a:solidFill>
                <a:latin typeface="Arial"/>
                <a:ea typeface="Arial"/>
                <a:cs typeface="Arial"/>
              </a:rPr>
              <a:t>1-day predictive regression</a:t>
            </a:r>
          </a:p>
        </p:txBody>
      </p:sp>
      <p:sp>
        <p:nvSpPr>
          <p:cNvPr id="6" name="">
            <a:extLst xmlns:a="http://schemas.openxmlformats.org/drawingml/2006/main">
              <a:ext uri="{FF2B5EF4-FFF2-40B4-BE49-F238E27FC236}">
                <a16:creationId xmlns:a16="http://schemas.microsoft.com/office/drawing/2014/main" id="{8EC7C34B-64A7-4255-8534-1B1168EF63A0}"/>
              </a:ext>
            </a:extLst>
          </p:cNvPr>
          <p:cNvSpPr>
            <a:spLocks xmlns:a="http://schemas.openxmlformats.org/drawingml/2006/main" noGrp="1"/>
          </p:cNvSpPr>
          <p:nvPr/>
        </p:nvSpPr>
        <p:spPr>
          <a:xfrm xmlns:a="http://schemas.openxmlformats.org/drawingml/2006/main">
            <a:off x="819150" y="2628900"/>
            <a:ext cx="2571750" cy="2095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1667"/>
          </a:bodyPr>
          <a:lstStyle xmlns:a="http://schemas.openxmlformats.org/drawingml/2006/main"/>
          <a:p xmlns:a="http://schemas.openxmlformats.org/drawingml/2006/main">
            <a:pPr algn="l">
              <a:defRPr sz="900" b="1">
                <a:solidFill>
                  <a:srgbClr val="64748B"/>
                </a:solidFill>
                <a:latin typeface="Arial"/>
                <a:ea typeface="Arial"/>
                <a:cs typeface="Arial"/>
              </a:defRPr>
            </a:pPr>
            <a:r>
              <a:rPr sz="900" b="1">
                <a:solidFill>
                  <a:srgbClr val="64748B"/>
                </a:solidFill>
                <a:latin typeface="Arial"/>
                <a:ea typeface="Arial"/>
                <a:cs typeface="Arial"/>
              </a:rPr>
              <a:t>Signal</a:t>
            </a:r>
          </a:p>
        </p:txBody>
      </p:sp>
      <p:sp>
        <p:nvSpPr>
          <p:cNvPr id="7" name="">
            <a:extLst xmlns:a="http://schemas.openxmlformats.org/drawingml/2006/main">
              <a:ext uri="{FF2B5EF4-FFF2-40B4-BE49-F238E27FC236}">
                <a16:creationId xmlns:a16="http://schemas.microsoft.com/office/drawing/2014/main" id="{DDB334F3-8F51-4B39-BD7A-360F075AF1CC}"/>
              </a:ext>
            </a:extLst>
          </p:cNvPr>
          <p:cNvSpPr>
            <a:spLocks xmlns:a="http://schemas.openxmlformats.org/drawingml/2006/main" noGrp="1"/>
          </p:cNvSpPr>
          <p:nvPr/>
        </p:nvSpPr>
        <p:spPr>
          <a:xfrm xmlns:a="http://schemas.openxmlformats.org/drawingml/2006/main">
            <a:off x="3714750" y="2628900"/>
            <a:ext cx="952500" cy="2095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1667"/>
          </a:bodyPr>
          <a:lstStyle xmlns:a="http://schemas.openxmlformats.org/drawingml/2006/main"/>
          <a:p xmlns:a="http://schemas.openxmlformats.org/drawingml/2006/main">
            <a:pPr algn="l">
              <a:defRPr sz="900" b="1">
                <a:solidFill>
                  <a:srgbClr val="64748B"/>
                </a:solidFill>
                <a:latin typeface="Arial"/>
                <a:ea typeface="Arial"/>
                <a:cs typeface="Arial"/>
              </a:defRPr>
            </a:pPr>
            <a:r>
              <a:rPr sz="900" b="1">
                <a:solidFill>
                  <a:srgbClr val="64748B"/>
                </a:solidFill>
                <a:latin typeface="Arial"/>
                <a:ea typeface="Arial"/>
                <a:cs typeface="Arial"/>
              </a:rPr>
              <a:t>Beta</a:t>
            </a:r>
          </a:p>
        </p:txBody>
      </p:sp>
      <p:sp>
        <p:nvSpPr>
          <p:cNvPr id="8" name="">
            <a:extLst xmlns:a="http://schemas.openxmlformats.org/drawingml/2006/main">
              <a:ext uri="{FF2B5EF4-FFF2-40B4-BE49-F238E27FC236}">
                <a16:creationId xmlns:a16="http://schemas.microsoft.com/office/drawing/2014/main" id="{33D22B86-9390-4F10-A1B2-5C48CE913076}"/>
              </a:ext>
            </a:extLst>
          </p:cNvPr>
          <p:cNvSpPr>
            <a:spLocks xmlns:a="http://schemas.openxmlformats.org/drawingml/2006/main" noGrp="1"/>
          </p:cNvSpPr>
          <p:nvPr/>
        </p:nvSpPr>
        <p:spPr>
          <a:xfrm xmlns:a="http://schemas.openxmlformats.org/drawingml/2006/main">
            <a:off x="4762500" y="2628900"/>
            <a:ext cx="952500" cy="2095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1667"/>
          </a:bodyPr>
          <a:lstStyle xmlns:a="http://schemas.openxmlformats.org/drawingml/2006/main"/>
          <a:p xmlns:a="http://schemas.openxmlformats.org/drawingml/2006/main">
            <a:pPr algn="l">
              <a:defRPr sz="900" b="1">
                <a:solidFill>
                  <a:srgbClr val="64748B"/>
                </a:solidFill>
                <a:latin typeface="Arial"/>
                <a:ea typeface="Arial"/>
                <a:cs typeface="Arial"/>
              </a:defRPr>
            </a:pPr>
            <a:r>
              <a:rPr sz="900" b="1">
                <a:solidFill>
                  <a:srgbClr val="64748B"/>
                </a:solidFill>
                <a:latin typeface="Arial"/>
                <a:ea typeface="Arial"/>
                <a:cs typeface="Arial"/>
              </a:rPr>
              <a:t>t-stat</a:t>
            </a:r>
          </a:p>
        </p:txBody>
      </p:sp>
      <p:sp>
        <p:nvSpPr>
          <p:cNvPr id="9" name="">
            <a:extLst xmlns:a="http://schemas.openxmlformats.org/drawingml/2006/main">
              <a:ext uri="{FF2B5EF4-FFF2-40B4-BE49-F238E27FC236}">
                <a16:creationId xmlns:a16="http://schemas.microsoft.com/office/drawing/2014/main" id="{964779CC-72F4-4710-81CE-4DE07450676C}"/>
              </a:ext>
            </a:extLst>
          </p:cNvPr>
          <p:cNvSpPr>
            <a:spLocks xmlns:a="http://schemas.openxmlformats.org/drawingml/2006/main" noGrp="1"/>
          </p:cNvSpPr>
          <p:nvPr/>
        </p:nvSpPr>
        <p:spPr>
          <a:xfrm xmlns:a="http://schemas.openxmlformats.org/drawingml/2006/main">
            <a:off x="5810250" y="2628900"/>
            <a:ext cx="952500" cy="2095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1667"/>
          </a:bodyPr>
          <a:lstStyle xmlns:a="http://schemas.openxmlformats.org/drawingml/2006/main"/>
          <a:p xmlns:a="http://schemas.openxmlformats.org/drawingml/2006/main">
            <a:pPr algn="l">
              <a:defRPr sz="900" b="1">
                <a:solidFill>
                  <a:srgbClr val="64748B"/>
                </a:solidFill>
                <a:latin typeface="Arial"/>
                <a:ea typeface="Arial"/>
                <a:cs typeface="Arial"/>
              </a:defRPr>
            </a:pPr>
            <a:r>
              <a:rPr sz="900" b="1">
                <a:solidFill>
                  <a:srgbClr val="64748B"/>
                </a:solidFill>
                <a:latin typeface="Arial"/>
                <a:ea typeface="Arial"/>
                <a:cs typeface="Arial"/>
              </a:rPr>
              <a:t>p-value</a:t>
            </a:r>
          </a:p>
        </p:txBody>
      </p:sp>
      <p:sp>
        <p:nvSpPr>
          <p:cNvPr id="10" name="">
            <a:extLst xmlns:a="http://schemas.openxmlformats.org/drawingml/2006/main">
              <a:ext uri="{FF2B5EF4-FFF2-40B4-BE49-F238E27FC236}">
                <a16:creationId xmlns:a16="http://schemas.microsoft.com/office/drawing/2014/main" id="{69F3DC18-0D1B-458F-8682-82B729110124}"/>
              </a:ext>
            </a:extLst>
          </p:cNvPr>
          <p:cNvSpPr>
            <a:spLocks xmlns:a="http://schemas.openxmlformats.org/drawingml/2006/main" noGrp="1"/>
          </p:cNvSpPr>
          <p:nvPr/>
        </p:nvSpPr>
        <p:spPr>
          <a:xfrm xmlns:a="http://schemas.openxmlformats.org/drawingml/2006/main">
            <a:off x="6762750" y="2628900"/>
            <a:ext cx="952500" cy="2095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1667"/>
          </a:bodyPr>
          <a:lstStyle xmlns:a="http://schemas.openxmlformats.org/drawingml/2006/main"/>
          <a:p xmlns:a="http://schemas.openxmlformats.org/drawingml/2006/main">
            <a:pPr algn="l">
              <a:defRPr sz="900" b="1">
                <a:solidFill>
                  <a:srgbClr val="64748B"/>
                </a:solidFill>
                <a:latin typeface="Arial"/>
                <a:ea typeface="Arial"/>
                <a:cs typeface="Arial"/>
              </a:defRPr>
            </a:pPr>
            <a:r>
              <a:rPr sz="900" b="1">
                <a:solidFill>
                  <a:srgbClr val="64748B"/>
                </a:solidFill>
                <a:latin typeface="Arial"/>
                <a:ea typeface="Arial"/>
                <a:cs typeface="Arial"/>
              </a:rPr>
              <a:t>bps / +1 vol pt</a:t>
            </a:r>
          </a:p>
        </p:txBody>
      </p:sp>
      <p:sp>
        <p:nvSpPr>
          <p:cNvPr id="11" name="">
            <a:extLst xmlns:a="http://schemas.openxmlformats.org/drawingml/2006/main">
              <a:ext uri="{FF2B5EF4-FFF2-40B4-BE49-F238E27FC236}">
                <a16:creationId xmlns:a16="http://schemas.microsoft.com/office/drawing/2014/main" id="{466500EA-1A2B-4EDB-BEE6-E47CB2415B80}"/>
              </a:ext>
            </a:extLst>
          </p:cNvPr>
          <p:cNvSpPr>
            <a:spLocks xmlns:a="http://schemas.openxmlformats.org/drawingml/2006/main" noGrp="1"/>
          </p:cNvSpPr>
          <p:nvPr/>
        </p:nvSpPr>
        <p:spPr>
          <a:xfrm xmlns:a="http://schemas.openxmlformats.org/drawingml/2006/main">
            <a:off x="781050" y="2943225"/>
            <a:ext cx="6705600" cy="9525"/>
          </a:xfrm>
          <a:prstGeom xmlns:a="http://schemas.openxmlformats.org/drawingml/2006/main" prst="rect">
            <a:avLst/>
          </a:prstGeom>
          <a:solidFill xmlns:a="http://schemas.openxmlformats.org/drawingml/2006/main">
            <a:srgbClr val="D9D5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50280B2-B308-46BE-9BB5-7B394461A898}"/>
              </a:ext>
            </a:extLst>
          </p:cNvPr>
          <p:cNvSpPr>
            <a:spLocks xmlns:a="http://schemas.openxmlformats.org/drawingml/2006/main" noGrp="1"/>
          </p:cNvSpPr>
          <p:nvPr/>
        </p:nvSpPr>
        <p:spPr>
          <a:xfrm xmlns:a="http://schemas.openxmlformats.org/drawingml/2006/main">
            <a:off x="819150" y="2990850"/>
            <a:ext cx="247650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l">
              <a:defRPr sz="1125" b="0">
                <a:solidFill>
                  <a:srgbClr val="172033"/>
                </a:solidFill>
                <a:latin typeface="Arial"/>
                <a:ea typeface="Arial"/>
                <a:cs typeface="Arial"/>
              </a:defRPr>
            </a:pPr>
            <a:r>
              <a:rPr sz="1125" b="0">
                <a:solidFill>
                  <a:srgbClr val="172033"/>
                </a:solidFill>
                <a:latin typeface="Arial"/>
                <a:ea typeface="Arial"/>
                <a:cs typeface="Arial"/>
              </a:rPr>
              <a:t>Paper-style spread</a:t>
            </a:r>
          </a:p>
        </p:txBody>
      </p:sp>
      <p:sp>
        <p:nvSpPr>
          <p:cNvPr id="13" name="">
            <a:extLst xmlns:a="http://schemas.openxmlformats.org/drawingml/2006/main">
              <a:ext uri="{FF2B5EF4-FFF2-40B4-BE49-F238E27FC236}">
                <a16:creationId xmlns:a16="http://schemas.microsoft.com/office/drawing/2014/main" id="{65928DB0-B404-471E-B418-1B72DF27B985}"/>
              </a:ext>
            </a:extLst>
          </p:cNvPr>
          <p:cNvSpPr>
            <a:spLocks xmlns:a="http://schemas.openxmlformats.org/drawingml/2006/main" noGrp="1"/>
          </p:cNvSpPr>
          <p:nvPr/>
        </p:nvSpPr>
        <p:spPr>
          <a:xfrm xmlns:a="http://schemas.openxmlformats.org/drawingml/2006/main">
            <a:off x="3714750" y="2990850"/>
            <a:ext cx="85725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l">
              <a:defRPr sz="1125" b="1">
                <a:solidFill>
                  <a:srgbClr val="C2410C"/>
                </a:solidFill>
                <a:latin typeface="Arial"/>
                <a:ea typeface="Arial"/>
                <a:cs typeface="Arial"/>
              </a:defRPr>
            </a:pPr>
            <a:r>
              <a:rPr sz="1125" b="1">
                <a:solidFill>
                  <a:srgbClr val="C2410C"/>
                </a:solidFill>
                <a:latin typeface="Arial"/>
                <a:ea typeface="Arial"/>
                <a:cs typeface="Arial"/>
              </a:rPr>
              <a:t>-0.1084</a:t>
            </a:r>
          </a:p>
        </p:txBody>
      </p:sp>
      <p:sp>
        <p:nvSpPr>
          <p:cNvPr id="14" name="">
            <a:extLst xmlns:a="http://schemas.openxmlformats.org/drawingml/2006/main">
              <a:ext uri="{FF2B5EF4-FFF2-40B4-BE49-F238E27FC236}">
                <a16:creationId xmlns:a16="http://schemas.microsoft.com/office/drawing/2014/main" id="{829D9659-2FE1-4A2C-8964-FF6765B3A63E}"/>
              </a:ext>
            </a:extLst>
          </p:cNvPr>
          <p:cNvSpPr>
            <a:spLocks xmlns:a="http://schemas.openxmlformats.org/drawingml/2006/main" noGrp="1"/>
          </p:cNvSpPr>
          <p:nvPr/>
        </p:nvSpPr>
        <p:spPr>
          <a:xfrm xmlns:a="http://schemas.openxmlformats.org/drawingml/2006/main">
            <a:off x="4762500" y="2990850"/>
            <a:ext cx="78105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l">
              <a:defRPr sz="1125" b="0">
                <a:solidFill>
                  <a:srgbClr val="172033"/>
                </a:solidFill>
                <a:latin typeface="Arial"/>
                <a:ea typeface="Arial"/>
                <a:cs typeface="Arial"/>
              </a:defRPr>
            </a:pPr>
            <a:r>
              <a:rPr sz="1125" b="0">
                <a:solidFill>
                  <a:srgbClr val="172033"/>
                </a:solidFill>
                <a:latin typeface="Arial"/>
                <a:ea typeface="Arial"/>
                <a:cs typeface="Arial"/>
              </a:rPr>
              <a:t>-1.55</a:t>
            </a:r>
          </a:p>
        </p:txBody>
      </p:sp>
      <p:sp>
        <p:nvSpPr>
          <p:cNvPr id="15" name="">
            <a:extLst xmlns:a="http://schemas.openxmlformats.org/drawingml/2006/main">
              <a:ext uri="{FF2B5EF4-FFF2-40B4-BE49-F238E27FC236}">
                <a16:creationId xmlns:a16="http://schemas.microsoft.com/office/drawing/2014/main" id="{2A17345F-63B6-40F4-BA39-15BD74BE633D}"/>
              </a:ext>
            </a:extLst>
          </p:cNvPr>
          <p:cNvSpPr>
            <a:spLocks xmlns:a="http://schemas.openxmlformats.org/drawingml/2006/main" noGrp="1"/>
          </p:cNvSpPr>
          <p:nvPr/>
        </p:nvSpPr>
        <p:spPr>
          <a:xfrm xmlns:a="http://schemas.openxmlformats.org/drawingml/2006/main">
            <a:off x="5810250" y="2990850"/>
            <a:ext cx="78105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l">
              <a:defRPr sz="1125" b="0">
                <a:solidFill>
                  <a:srgbClr val="172033"/>
                </a:solidFill>
                <a:latin typeface="Arial"/>
                <a:ea typeface="Arial"/>
                <a:cs typeface="Arial"/>
              </a:defRPr>
            </a:pPr>
            <a:r>
              <a:rPr sz="1125" b="0">
                <a:solidFill>
                  <a:srgbClr val="172033"/>
                </a:solidFill>
                <a:latin typeface="Arial"/>
                <a:ea typeface="Arial"/>
                <a:cs typeface="Arial"/>
              </a:rPr>
              <a:t>0.120</a:t>
            </a:r>
          </a:p>
        </p:txBody>
      </p:sp>
      <p:sp>
        <p:nvSpPr>
          <p:cNvPr id="16" name="">
            <a:extLst xmlns:a="http://schemas.openxmlformats.org/drawingml/2006/main">
              <a:ext uri="{FF2B5EF4-FFF2-40B4-BE49-F238E27FC236}">
                <a16:creationId xmlns:a16="http://schemas.microsoft.com/office/drawing/2014/main" id="{08CBCC3E-4805-4931-8380-2F453AAE4D01}"/>
              </a:ext>
            </a:extLst>
          </p:cNvPr>
          <p:cNvSpPr>
            <a:spLocks xmlns:a="http://schemas.openxmlformats.org/drawingml/2006/main" noGrp="1"/>
          </p:cNvSpPr>
          <p:nvPr/>
        </p:nvSpPr>
        <p:spPr>
          <a:xfrm xmlns:a="http://schemas.openxmlformats.org/drawingml/2006/main">
            <a:off x="6762750" y="2990850"/>
            <a:ext cx="87630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l">
              <a:defRPr sz="1125" b="1">
                <a:solidFill>
                  <a:srgbClr val="C2410C"/>
                </a:solidFill>
                <a:latin typeface="Arial"/>
                <a:ea typeface="Arial"/>
                <a:cs typeface="Arial"/>
              </a:defRPr>
            </a:pPr>
            <a:r>
              <a:rPr sz="1125" b="1">
                <a:solidFill>
                  <a:srgbClr val="C2410C"/>
                </a:solidFill>
                <a:latin typeface="Arial"/>
                <a:ea typeface="Arial"/>
                <a:cs typeface="Arial"/>
              </a:rPr>
              <a:t>-10.8</a:t>
            </a:r>
          </a:p>
        </p:txBody>
      </p:sp>
      <p:sp>
        <p:nvSpPr>
          <p:cNvPr id="17" name="">
            <a:extLst xmlns:a="http://schemas.openxmlformats.org/drawingml/2006/main">
              <a:ext uri="{FF2B5EF4-FFF2-40B4-BE49-F238E27FC236}">
                <a16:creationId xmlns:a16="http://schemas.microsoft.com/office/drawing/2014/main" id="{9CE089A4-A903-420E-A0ED-DDCFAD0B5A02}"/>
              </a:ext>
            </a:extLst>
          </p:cNvPr>
          <p:cNvSpPr>
            <a:spLocks xmlns:a="http://schemas.openxmlformats.org/drawingml/2006/main" noGrp="1"/>
          </p:cNvSpPr>
          <p:nvPr/>
        </p:nvSpPr>
        <p:spPr>
          <a:xfrm xmlns:a="http://schemas.openxmlformats.org/drawingml/2006/main">
            <a:off x="781050" y="3343275"/>
            <a:ext cx="6705600" cy="9525"/>
          </a:xfrm>
          <a:prstGeom xmlns:a="http://schemas.openxmlformats.org/drawingml/2006/main" prst="rect">
            <a:avLst/>
          </a:prstGeom>
          <a:solidFill xmlns:a="http://schemas.openxmlformats.org/drawingml/2006/main">
            <a:srgbClr val="D9D5C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ACD71A6-9FD4-484C-8FAC-503CF388D3DF}"/>
              </a:ext>
            </a:extLst>
          </p:cNvPr>
          <p:cNvSpPr>
            <a:spLocks xmlns:a="http://schemas.openxmlformats.org/drawingml/2006/main" noGrp="1"/>
          </p:cNvSpPr>
          <p:nvPr/>
        </p:nvSpPr>
        <p:spPr>
          <a:xfrm xmlns:a="http://schemas.openxmlformats.org/drawingml/2006/main">
            <a:off x="819150" y="3390900"/>
            <a:ext cx="247650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l">
              <a:defRPr sz="1125" b="0">
                <a:solidFill>
                  <a:srgbClr val="172033"/>
                </a:solidFill>
                <a:latin typeface="Arial"/>
                <a:ea typeface="Arial"/>
                <a:cs typeface="Arial"/>
              </a:defRPr>
            </a:pPr>
            <a:r>
              <a:rPr sz="1125" b="0">
                <a:solidFill>
                  <a:srgbClr val="172033"/>
                </a:solidFill>
                <a:latin typeface="Arial"/>
                <a:ea typeface="Arial"/>
                <a:cs typeface="Arial"/>
              </a:rPr>
              <a:t>Bid-ask weighted</a:t>
            </a:r>
          </a:p>
        </p:txBody>
      </p:sp>
      <p:sp>
        <p:nvSpPr>
          <p:cNvPr id="19" name="">
            <a:extLst xmlns:a="http://schemas.openxmlformats.org/drawingml/2006/main">
              <a:ext uri="{FF2B5EF4-FFF2-40B4-BE49-F238E27FC236}">
                <a16:creationId xmlns:a16="http://schemas.microsoft.com/office/drawing/2014/main" id="{5F6084F1-3B8C-4EAE-A20D-18C62C49FE03}"/>
              </a:ext>
            </a:extLst>
          </p:cNvPr>
          <p:cNvSpPr>
            <a:spLocks xmlns:a="http://schemas.openxmlformats.org/drawingml/2006/main" noGrp="1"/>
          </p:cNvSpPr>
          <p:nvPr/>
        </p:nvSpPr>
        <p:spPr>
          <a:xfrm xmlns:a="http://schemas.openxmlformats.org/drawingml/2006/main">
            <a:off x="3714750" y="3390900"/>
            <a:ext cx="85725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l">
              <a:defRPr sz="1125" b="1">
                <a:solidFill>
                  <a:srgbClr val="C2410C"/>
                </a:solidFill>
                <a:latin typeface="Arial"/>
                <a:ea typeface="Arial"/>
                <a:cs typeface="Arial"/>
              </a:defRPr>
            </a:pPr>
            <a:r>
              <a:rPr sz="1125" b="1">
                <a:solidFill>
                  <a:srgbClr val="C2410C"/>
                </a:solidFill>
                <a:latin typeface="Arial"/>
                <a:ea typeface="Arial"/>
                <a:cs typeface="Arial"/>
              </a:rPr>
              <a:t>-0.0655</a:t>
            </a:r>
          </a:p>
        </p:txBody>
      </p:sp>
      <p:sp>
        <p:nvSpPr>
          <p:cNvPr id="20" name="">
            <a:extLst xmlns:a="http://schemas.openxmlformats.org/drawingml/2006/main">
              <a:ext uri="{FF2B5EF4-FFF2-40B4-BE49-F238E27FC236}">
                <a16:creationId xmlns:a16="http://schemas.microsoft.com/office/drawing/2014/main" id="{70C46ED2-E380-4367-BEE2-30E667F81F40}"/>
              </a:ext>
            </a:extLst>
          </p:cNvPr>
          <p:cNvSpPr>
            <a:spLocks xmlns:a="http://schemas.openxmlformats.org/drawingml/2006/main" noGrp="1"/>
          </p:cNvSpPr>
          <p:nvPr/>
        </p:nvSpPr>
        <p:spPr>
          <a:xfrm xmlns:a="http://schemas.openxmlformats.org/drawingml/2006/main">
            <a:off x="4762500" y="3390900"/>
            <a:ext cx="78105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l">
              <a:defRPr sz="1125" b="0">
                <a:solidFill>
                  <a:srgbClr val="172033"/>
                </a:solidFill>
                <a:latin typeface="Arial"/>
                <a:ea typeface="Arial"/>
                <a:cs typeface="Arial"/>
              </a:defRPr>
            </a:pPr>
            <a:r>
              <a:rPr sz="1125" b="0">
                <a:solidFill>
                  <a:srgbClr val="172033"/>
                </a:solidFill>
                <a:latin typeface="Arial"/>
                <a:ea typeface="Arial"/>
                <a:cs typeface="Arial"/>
              </a:rPr>
              <a:t>-1.01</a:t>
            </a:r>
          </a:p>
        </p:txBody>
      </p:sp>
      <p:sp>
        <p:nvSpPr>
          <p:cNvPr id="21" name="">
            <a:extLst xmlns:a="http://schemas.openxmlformats.org/drawingml/2006/main">
              <a:ext uri="{FF2B5EF4-FFF2-40B4-BE49-F238E27FC236}">
                <a16:creationId xmlns:a16="http://schemas.microsoft.com/office/drawing/2014/main" id="{493F3059-D695-4A54-A9D0-06EEB7CD4255}"/>
              </a:ext>
            </a:extLst>
          </p:cNvPr>
          <p:cNvSpPr>
            <a:spLocks xmlns:a="http://schemas.openxmlformats.org/drawingml/2006/main" noGrp="1"/>
          </p:cNvSpPr>
          <p:nvPr/>
        </p:nvSpPr>
        <p:spPr>
          <a:xfrm xmlns:a="http://schemas.openxmlformats.org/drawingml/2006/main">
            <a:off x="5810250" y="3390900"/>
            <a:ext cx="78105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l">
              <a:defRPr sz="1125" b="0">
                <a:solidFill>
                  <a:srgbClr val="172033"/>
                </a:solidFill>
                <a:latin typeface="Arial"/>
                <a:ea typeface="Arial"/>
                <a:cs typeface="Arial"/>
              </a:defRPr>
            </a:pPr>
            <a:r>
              <a:rPr sz="1125" b="0">
                <a:solidFill>
                  <a:srgbClr val="172033"/>
                </a:solidFill>
                <a:latin typeface="Arial"/>
                <a:ea typeface="Arial"/>
                <a:cs typeface="Arial"/>
              </a:rPr>
              <a:t>0.314</a:t>
            </a:r>
          </a:p>
        </p:txBody>
      </p:sp>
      <p:sp>
        <p:nvSpPr>
          <p:cNvPr id="22" name="">
            <a:extLst xmlns:a="http://schemas.openxmlformats.org/drawingml/2006/main">
              <a:ext uri="{FF2B5EF4-FFF2-40B4-BE49-F238E27FC236}">
                <a16:creationId xmlns:a16="http://schemas.microsoft.com/office/drawing/2014/main" id="{EB51A7ED-CF19-4065-9B5E-94A3CE6EBEEC}"/>
              </a:ext>
            </a:extLst>
          </p:cNvPr>
          <p:cNvSpPr>
            <a:spLocks xmlns:a="http://schemas.openxmlformats.org/drawingml/2006/main" noGrp="1"/>
          </p:cNvSpPr>
          <p:nvPr/>
        </p:nvSpPr>
        <p:spPr>
          <a:xfrm xmlns:a="http://schemas.openxmlformats.org/drawingml/2006/main">
            <a:off x="6762750" y="3390900"/>
            <a:ext cx="87630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l">
              <a:defRPr sz="1125" b="1">
                <a:solidFill>
                  <a:srgbClr val="C2410C"/>
                </a:solidFill>
                <a:latin typeface="Arial"/>
                <a:ea typeface="Arial"/>
                <a:cs typeface="Arial"/>
              </a:defRPr>
            </a:pPr>
            <a:r>
              <a:rPr sz="1125" b="1">
                <a:solidFill>
                  <a:srgbClr val="C2410C"/>
                </a:solidFill>
                <a:latin typeface="Arial"/>
                <a:ea typeface="Arial"/>
                <a:cs typeface="Arial"/>
              </a:rPr>
              <a:t>-6.5</a:t>
            </a:r>
          </a:p>
        </p:txBody>
      </p:sp>
      <p:sp>
        <p:nvSpPr>
          <p:cNvPr id="23" name="">
            <a:extLst xmlns:a="http://schemas.openxmlformats.org/drawingml/2006/main">
              <a:ext uri="{FF2B5EF4-FFF2-40B4-BE49-F238E27FC236}">
                <a16:creationId xmlns:a16="http://schemas.microsoft.com/office/drawing/2014/main" id="{15BAC6C2-F031-4DDD-BC73-A5C848A636F0}"/>
              </a:ext>
            </a:extLst>
          </p:cNvPr>
          <p:cNvSpPr>
            <a:spLocks xmlns:a="http://schemas.openxmlformats.org/drawingml/2006/main" noGrp="1"/>
          </p:cNvSpPr>
          <p:nvPr/>
        </p:nvSpPr>
        <p:spPr>
          <a:xfrm xmlns:a="http://schemas.openxmlformats.org/drawingml/2006/main">
            <a:off x="781050" y="3743325"/>
            <a:ext cx="6705600" cy="9525"/>
          </a:xfrm>
          <a:prstGeom xmlns:a="http://schemas.openxmlformats.org/drawingml/2006/main" prst="rect">
            <a:avLst/>
          </a:prstGeom>
          <a:solidFill xmlns:a="http://schemas.openxmlformats.org/drawingml/2006/main">
            <a:srgbClr val="D9D5C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0AE8058-BFA3-4630-AD76-FDB8E6D64831}"/>
              </a:ext>
            </a:extLst>
          </p:cNvPr>
          <p:cNvSpPr>
            <a:spLocks xmlns:a="http://schemas.openxmlformats.org/drawingml/2006/main" noGrp="1"/>
          </p:cNvSpPr>
          <p:nvPr/>
        </p:nvSpPr>
        <p:spPr>
          <a:xfrm xmlns:a="http://schemas.openxmlformats.org/drawingml/2006/main">
            <a:off x="819150" y="3790950"/>
            <a:ext cx="247650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l">
              <a:defRPr sz="1125" b="0">
                <a:solidFill>
                  <a:srgbClr val="172033"/>
                </a:solidFill>
                <a:latin typeface="Arial"/>
                <a:ea typeface="Arial"/>
                <a:cs typeface="Arial"/>
              </a:defRPr>
            </a:pPr>
            <a:r>
              <a:rPr sz="1125" b="0">
                <a:solidFill>
                  <a:srgbClr val="172033"/>
                </a:solidFill>
                <a:latin typeface="Arial"/>
                <a:ea typeface="Arial"/>
                <a:cs typeface="Arial"/>
              </a:rPr>
              <a:t>Delta bucket</a:t>
            </a:r>
          </a:p>
        </p:txBody>
      </p:sp>
      <p:sp>
        <p:nvSpPr>
          <p:cNvPr id="25" name="">
            <a:extLst xmlns:a="http://schemas.openxmlformats.org/drawingml/2006/main">
              <a:ext uri="{FF2B5EF4-FFF2-40B4-BE49-F238E27FC236}">
                <a16:creationId xmlns:a16="http://schemas.microsoft.com/office/drawing/2014/main" id="{7C71556E-BE55-4EC3-B5A6-199E06198629}"/>
              </a:ext>
            </a:extLst>
          </p:cNvPr>
          <p:cNvSpPr>
            <a:spLocks xmlns:a="http://schemas.openxmlformats.org/drawingml/2006/main" noGrp="1"/>
          </p:cNvSpPr>
          <p:nvPr/>
        </p:nvSpPr>
        <p:spPr>
          <a:xfrm xmlns:a="http://schemas.openxmlformats.org/drawingml/2006/main">
            <a:off x="3714750" y="3790950"/>
            <a:ext cx="85725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l">
              <a:defRPr sz="1125" b="1">
                <a:solidFill>
                  <a:srgbClr val="C2410C"/>
                </a:solidFill>
                <a:latin typeface="Arial"/>
                <a:ea typeface="Arial"/>
                <a:cs typeface="Arial"/>
              </a:defRPr>
            </a:pPr>
            <a:r>
              <a:rPr sz="1125" b="1">
                <a:solidFill>
                  <a:srgbClr val="C2410C"/>
                </a:solidFill>
                <a:latin typeface="Arial"/>
                <a:ea typeface="Arial"/>
                <a:cs typeface="Arial"/>
              </a:rPr>
              <a:t>-0.0211</a:t>
            </a:r>
          </a:p>
        </p:txBody>
      </p:sp>
      <p:sp>
        <p:nvSpPr>
          <p:cNvPr id="26" name="">
            <a:extLst xmlns:a="http://schemas.openxmlformats.org/drawingml/2006/main">
              <a:ext uri="{FF2B5EF4-FFF2-40B4-BE49-F238E27FC236}">
                <a16:creationId xmlns:a16="http://schemas.microsoft.com/office/drawing/2014/main" id="{2F7BEB2E-D2F1-436C-92C2-82637A43D769}"/>
              </a:ext>
            </a:extLst>
          </p:cNvPr>
          <p:cNvSpPr>
            <a:spLocks xmlns:a="http://schemas.openxmlformats.org/drawingml/2006/main" noGrp="1"/>
          </p:cNvSpPr>
          <p:nvPr/>
        </p:nvSpPr>
        <p:spPr>
          <a:xfrm xmlns:a="http://schemas.openxmlformats.org/drawingml/2006/main">
            <a:off x="4762500" y="3790950"/>
            <a:ext cx="78105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l">
              <a:defRPr sz="1125" b="0">
                <a:solidFill>
                  <a:srgbClr val="172033"/>
                </a:solidFill>
                <a:latin typeface="Arial"/>
                <a:ea typeface="Arial"/>
                <a:cs typeface="Arial"/>
              </a:defRPr>
            </a:pPr>
            <a:r>
              <a:rPr sz="1125" b="0">
                <a:solidFill>
                  <a:srgbClr val="172033"/>
                </a:solidFill>
                <a:latin typeface="Arial"/>
                <a:ea typeface="Arial"/>
                <a:cs typeface="Arial"/>
              </a:rPr>
              <a:t>-0.49</a:t>
            </a:r>
          </a:p>
        </p:txBody>
      </p:sp>
      <p:sp>
        <p:nvSpPr>
          <p:cNvPr id="27" name="">
            <a:extLst xmlns:a="http://schemas.openxmlformats.org/drawingml/2006/main">
              <a:ext uri="{FF2B5EF4-FFF2-40B4-BE49-F238E27FC236}">
                <a16:creationId xmlns:a16="http://schemas.microsoft.com/office/drawing/2014/main" id="{FFE650F8-7A7C-4F10-B58C-7502F14CC092}"/>
              </a:ext>
            </a:extLst>
          </p:cNvPr>
          <p:cNvSpPr>
            <a:spLocks xmlns:a="http://schemas.openxmlformats.org/drawingml/2006/main" noGrp="1"/>
          </p:cNvSpPr>
          <p:nvPr/>
        </p:nvSpPr>
        <p:spPr>
          <a:xfrm xmlns:a="http://schemas.openxmlformats.org/drawingml/2006/main">
            <a:off x="5810250" y="3790950"/>
            <a:ext cx="78105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l">
              <a:defRPr sz="1125" b="0">
                <a:solidFill>
                  <a:srgbClr val="172033"/>
                </a:solidFill>
                <a:latin typeface="Arial"/>
                <a:ea typeface="Arial"/>
                <a:cs typeface="Arial"/>
              </a:defRPr>
            </a:pPr>
            <a:r>
              <a:rPr sz="1125" b="0">
                <a:solidFill>
                  <a:srgbClr val="172033"/>
                </a:solidFill>
                <a:latin typeface="Arial"/>
                <a:ea typeface="Arial"/>
                <a:cs typeface="Arial"/>
              </a:rPr>
              <a:t>0.622</a:t>
            </a:r>
          </a:p>
        </p:txBody>
      </p:sp>
      <p:sp>
        <p:nvSpPr>
          <p:cNvPr id="28" name="">
            <a:extLst xmlns:a="http://schemas.openxmlformats.org/drawingml/2006/main">
              <a:ext uri="{FF2B5EF4-FFF2-40B4-BE49-F238E27FC236}">
                <a16:creationId xmlns:a16="http://schemas.microsoft.com/office/drawing/2014/main" id="{82B36A5B-FD9B-4BFA-9B39-3DC9BC8E4B6D}"/>
              </a:ext>
            </a:extLst>
          </p:cNvPr>
          <p:cNvSpPr>
            <a:spLocks xmlns:a="http://schemas.openxmlformats.org/drawingml/2006/main" noGrp="1"/>
          </p:cNvSpPr>
          <p:nvPr/>
        </p:nvSpPr>
        <p:spPr>
          <a:xfrm xmlns:a="http://schemas.openxmlformats.org/drawingml/2006/main">
            <a:off x="6762750" y="3790950"/>
            <a:ext cx="87630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l">
              <a:defRPr sz="1125" b="1">
                <a:solidFill>
                  <a:srgbClr val="C2410C"/>
                </a:solidFill>
                <a:latin typeface="Arial"/>
                <a:ea typeface="Arial"/>
                <a:cs typeface="Arial"/>
              </a:defRPr>
            </a:pPr>
            <a:r>
              <a:rPr sz="1125" b="1">
                <a:solidFill>
                  <a:srgbClr val="C2410C"/>
                </a:solidFill>
                <a:latin typeface="Arial"/>
                <a:ea typeface="Arial"/>
                <a:cs typeface="Arial"/>
              </a:rPr>
              <a:t>-2.1</a:t>
            </a:r>
          </a:p>
        </p:txBody>
      </p:sp>
      <p:sp>
        <p:nvSpPr>
          <p:cNvPr id="29" name="">
            <a:extLst xmlns:a="http://schemas.openxmlformats.org/drawingml/2006/main">
              <a:ext uri="{FF2B5EF4-FFF2-40B4-BE49-F238E27FC236}">
                <a16:creationId xmlns:a16="http://schemas.microsoft.com/office/drawing/2014/main" id="{447825E6-0F03-4F56-9F24-3E8ABFD98F33}"/>
              </a:ext>
            </a:extLst>
          </p:cNvPr>
          <p:cNvSpPr>
            <a:spLocks xmlns:a="http://schemas.openxmlformats.org/drawingml/2006/main" noGrp="1"/>
          </p:cNvSpPr>
          <p:nvPr/>
        </p:nvSpPr>
        <p:spPr>
          <a:xfrm xmlns:a="http://schemas.openxmlformats.org/drawingml/2006/main">
            <a:off x="781050" y="4143375"/>
            <a:ext cx="6705600" cy="9525"/>
          </a:xfrm>
          <a:prstGeom xmlns:a="http://schemas.openxmlformats.org/drawingml/2006/main" prst="rect">
            <a:avLst/>
          </a:prstGeom>
          <a:solidFill xmlns:a="http://schemas.openxmlformats.org/drawingml/2006/main">
            <a:srgbClr val="D9D5C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97B6B0D-591D-40E6-AB20-8926460FB844}"/>
              </a:ext>
            </a:extLst>
          </p:cNvPr>
          <p:cNvSpPr>
            <a:spLocks xmlns:a="http://schemas.openxmlformats.org/drawingml/2006/main" noGrp="1"/>
          </p:cNvSpPr>
          <p:nvPr/>
        </p:nvSpPr>
        <p:spPr>
          <a:xfrm xmlns:a="http://schemas.openxmlformats.org/drawingml/2006/main">
            <a:off x="819150" y="4191000"/>
            <a:ext cx="247650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l">
              <a:defRPr sz="1125" b="0">
                <a:solidFill>
                  <a:srgbClr val="172033"/>
                </a:solidFill>
                <a:latin typeface="Arial"/>
                <a:ea typeface="Arial"/>
                <a:cs typeface="Arial"/>
              </a:defRPr>
            </a:pPr>
            <a:r>
              <a:rPr sz="1125" b="0">
                <a:solidFill>
                  <a:srgbClr val="172033"/>
                </a:solidFill>
                <a:latin typeface="Arial"/>
                <a:ea typeface="Arial"/>
                <a:cs typeface="Arial"/>
              </a:rPr>
              <a:t>ATM call - put</a:t>
            </a:r>
          </a:p>
        </p:txBody>
      </p:sp>
      <p:sp>
        <p:nvSpPr>
          <p:cNvPr id="31" name="">
            <a:extLst xmlns:a="http://schemas.openxmlformats.org/drawingml/2006/main">
              <a:ext uri="{FF2B5EF4-FFF2-40B4-BE49-F238E27FC236}">
                <a16:creationId xmlns:a16="http://schemas.microsoft.com/office/drawing/2014/main" id="{8D6CF0B4-D4F8-4019-AC60-30D4E66252A4}"/>
              </a:ext>
            </a:extLst>
          </p:cNvPr>
          <p:cNvSpPr>
            <a:spLocks xmlns:a="http://schemas.openxmlformats.org/drawingml/2006/main" noGrp="1"/>
          </p:cNvSpPr>
          <p:nvPr/>
        </p:nvSpPr>
        <p:spPr>
          <a:xfrm xmlns:a="http://schemas.openxmlformats.org/drawingml/2006/main">
            <a:off x="3714750" y="4191000"/>
            <a:ext cx="85725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l">
              <a:defRPr sz="1125" b="1">
                <a:solidFill>
                  <a:srgbClr val="1D4ED8"/>
                </a:solidFill>
                <a:latin typeface="Arial"/>
                <a:ea typeface="Arial"/>
                <a:cs typeface="Arial"/>
              </a:defRPr>
            </a:pPr>
            <a:r>
              <a:rPr sz="1125" b="1">
                <a:solidFill>
                  <a:srgbClr val="1D4ED8"/>
                </a:solidFill>
                <a:latin typeface="Arial"/>
                <a:ea typeface="Arial"/>
                <a:cs typeface="Arial"/>
              </a:rPr>
              <a:t>0.1047</a:t>
            </a:r>
          </a:p>
        </p:txBody>
      </p:sp>
      <p:sp>
        <p:nvSpPr>
          <p:cNvPr id="32" name="">
            <a:extLst xmlns:a="http://schemas.openxmlformats.org/drawingml/2006/main">
              <a:ext uri="{FF2B5EF4-FFF2-40B4-BE49-F238E27FC236}">
                <a16:creationId xmlns:a16="http://schemas.microsoft.com/office/drawing/2014/main" id="{A5106B9A-0937-4C6A-9F8E-C5BABC822CF7}"/>
              </a:ext>
            </a:extLst>
          </p:cNvPr>
          <p:cNvSpPr>
            <a:spLocks xmlns:a="http://schemas.openxmlformats.org/drawingml/2006/main" noGrp="1"/>
          </p:cNvSpPr>
          <p:nvPr/>
        </p:nvSpPr>
        <p:spPr>
          <a:xfrm xmlns:a="http://schemas.openxmlformats.org/drawingml/2006/main">
            <a:off x="4762500" y="4191000"/>
            <a:ext cx="78105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l">
              <a:defRPr sz="1125" b="0">
                <a:solidFill>
                  <a:srgbClr val="172033"/>
                </a:solidFill>
                <a:latin typeface="Arial"/>
                <a:ea typeface="Arial"/>
                <a:cs typeface="Arial"/>
              </a:defRPr>
            </a:pPr>
            <a:r>
              <a:rPr sz="1125" b="0">
                <a:solidFill>
                  <a:srgbClr val="172033"/>
                </a:solidFill>
                <a:latin typeface="Arial"/>
                <a:ea typeface="Arial"/>
                <a:cs typeface="Arial"/>
              </a:rPr>
              <a:t>0.96</a:t>
            </a:r>
          </a:p>
        </p:txBody>
      </p:sp>
      <p:sp>
        <p:nvSpPr>
          <p:cNvPr id="33" name="">
            <a:extLst xmlns:a="http://schemas.openxmlformats.org/drawingml/2006/main">
              <a:ext uri="{FF2B5EF4-FFF2-40B4-BE49-F238E27FC236}">
                <a16:creationId xmlns:a16="http://schemas.microsoft.com/office/drawing/2014/main" id="{83E7DDE6-4E39-4551-A3BE-66930278BA7B}"/>
              </a:ext>
            </a:extLst>
          </p:cNvPr>
          <p:cNvSpPr>
            <a:spLocks xmlns:a="http://schemas.openxmlformats.org/drawingml/2006/main" noGrp="1"/>
          </p:cNvSpPr>
          <p:nvPr/>
        </p:nvSpPr>
        <p:spPr>
          <a:xfrm xmlns:a="http://schemas.openxmlformats.org/drawingml/2006/main">
            <a:off x="5810250" y="4191000"/>
            <a:ext cx="78105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l">
              <a:defRPr sz="1125" b="0">
                <a:solidFill>
                  <a:srgbClr val="172033"/>
                </a:solidFill>
                <a:latin typeface="Arial"/>
                <a:ea typeface="Arial"/>
                <a:cs typeface="Arial"/>
              </a:defRPr>
            </a:pPr>
            <a:r>
              <a:rPr sz="1125" b="0">
                <a:solidFill>
                  <a:srgbClr val="172033"/>
                </a:solidFill>
                <a:latin typeface="Arial"/>
                <a:ea typeface="Arial"/>
                <a:cs typeface="Arial"/>
              </a:rPr>
              <a:t>0.336</a:t>
            </a:r>
          </a:p>
        </p:txBody>
      </p:sp>
      <p:sp>
        <p:nvSpPr>
          <p:cNvPr id="34" name="">
            <a:extLst xmlns:a="http://schemas.openxmlformats.org/drawingml/2006/main">
              <a:ext uri="{FF2B5EF4-FFF2-40B4-BE49-F238E27FC236}">
                <a16:creationId xmlns:a16="http://schemas.microsoft.com/office/drawing/2014/main" id="{404BC2B2-03D1-43C7-B0EF-DC432D1F6315}"/>
              </a:ext>
            </a:extLst>
          </p:cNvPr>
          <p:cNvSpPr>
            <a:spLocks xmlns:a="http://schemas.openxmlformats.org/drawingml/2006/main" noGrp="1"/>
          </p:cNvSpPr>
          <p:nvPr/>
        </p:nvSpPr>
        <p:spPr>
          <a:xfrm xmlns:a="http://schemas.openxmlformats.org/drawingml/2006/main">
            <a:off x="6762750" y="4191000"/>
            <a:ext cx="87630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l">
              <a:defRPr sz="1125" b="1">
                <a:solidFill>
                  <a:srgbClr val="1D4ED8"/>
                </a:solidFill>
                <a:latin typeface="Arial"/>
                <a:ea typeface="Arial"/>
                <a:cs typeface="Arial"/>
              </a:defRPr>
            </a:pPr>
            <a:r>
              <a:rPr sz="1125" b="1">
                <a:solidFill>
                  <a:srgbClr val="1D4ED8"/>
                </a:solidFill>
                <a:latin typeface="Arial"/>
                <a:ea typeface="Arial"/>
                <a:cs typeface="Arial"/>
              </a:rPr>
              <a:t>10.5</a:t>
            </a:r>
          </a:p>
        </p:txBody>
      </p:sp>
      <p:sp>
        <p:nvSpPr>
          <p:cNvPr id="35" name="">
            <a:extLst xmlns:a="http://schemas.openxmlformats.org/drawingml/2006/main">
              <a:ext uri="{FF2B5EF4-FFF2-40B4-BE49-F238E27FC236}">
                <a16:creationId xmlns:a16="http://schemas.microsoft.com/office/drawing/2014/main" id="{07E6DBE5-0EA6-4DB9-8390-255754B52DCC}"/>
              </a:ext>
            </a:extLst>
          </p:cNvPr>
          <p:cNvSpPr>
            <a:spLocks xmlns:a="http://schemas.openxmlformats.org/drawingml/2006/main" noGrp="1"/>
          </p:cNvSpPr>
          <p:nvPr/>
        </p:nvSpPr>
        <p:spPr>
          <a:xfrm xmlns:a="http://schemas.openxmlformats.org/drawingml/2006/main">
            <a:off x="8439150" y="2038350"/>
            <a:ext cx="2705100" cy="1352550"/>
          </a:xfrm>
          <a:prstGeom xmlns:a="http://schemas.openxmlformats.org/drawingml/2006/main" prst="rect">
            <a:avLst/>
          </a:prstGeom>
          <a:solidFill xmlns:a="http://schemas.openxmlformats.org/drawingml/2006/main">
            <a:srgbClr val="FFF7ED"/>
          </a:solidFill>
          <a:ln xmlns:a="http://schemas.openxmlformats.org/drawingml/2006/main" w="9525">
            <a:solidFill>
              <a:srgbClr val="C2410C"/>
            </a:solidFill>
          </a:ln>
        </p:spPr>
      </p:sp>
      <p:sp>
        <p:nvSpPr>
          <p:cNvPr id="36" name="">
            <a:extLst xmlns:a="http://schemas.openxmlformats.org/drawingml/2006/main">
              <a:ext uri="{FF2B5EF4-FFF2-40B4-BE49-F238E27FC236}">
                <a16:creationId xmlns:a16="http://schemas.microsoft.com/office/drawing/2014/main" id="{BFCAA5C8-A537-4956-AB89-BEB56CDB1DB1}"/>
              </a:ext>
            </a:extLst>
          </p:cNvPr>
          <p:cNvSpPr>
            <a:spLocks xmlns:a="http://schemas.openxmlformats.org/drawingml/2006/main" noGrp="1"/>
          </p:cNvSpPr>
          <p:nvPr/>
        </p:nvSpPr>
        <p:spPr>
          <a:xfrm xmlns:a="http://schemas.openxmlformats.org/drawingml/2006/main">
            <a:off x="8667750" y="2266950"/>
            <a:ext cx="2209800" cy="419100"/>
          </a:xfrm>
          <a:prstGeom xmlns:a="http://schemas.openxmlformats.org/drawingml/2006/main" prst="rect">
            <a:avLst/>
          </a:prstGeom>
          <a:solidFill xmlns:a="http://schemas.openxmlformats.org/drawingml/2006/main">
            <a:srgbClr val="FFF7ED"/>
          </a:solidFill>
          <a:ln xmlns:a="http://schemas.openxmlformats.org/drawingml/2006/main" w="0">
            <a:noFill/>
          </a:ln>
        </p:spPr>
        <p:txBody>
          <a:bodyPr xmlns:a="http://schemas.openxmlformats.org/drawingml/2006/main" wrap="square" lIns="76200" tIns="76200" rIns="76200" bIns="76200">
            <a:normAutofit fontScale="68627"/>
          </a:bodyPr>
          <a:lstStyle xmlns:a="http://schemas.openxmlformats.org/drawingml/2006/main"/>
          <a:p xmlns:a="http://schemas.openxmlformats.org/drawingml/2006/main">
            <a:pPr algn="l">
              <a:defRPr sz="2550" b="1">
                <a:solidFill>
                  <a:srgbClr val="C2410C"/>
                </a:solidFill>
                <a:latin typeface="Arial"/>
                <a:ea typeface="Arial"/>
                <a:cs typeface="Arial"/>
              </a:defRPr>
            </a:pPr>
            <a:r>
              <a:rPr sz="2550" b="1">
                <a:solidFill>
                  <a:srgbClr val="C2410C"/>
                </a:solidFill>
                <a:latin typeface="Arial"/>
                <a:ea typeface="Arial"/>
                <a:cs typeface="Arial"/>
              </a:rPr>
              <a:t>-10.8 bps</a:t>
            </a:r>
          </a:p>
        </p:txBody>
      </p:sp>
      <p:sp>
        <p:nvSpPr>
          <p:cNvPr id="37" name="">
            <a:extLst xmlns:a="http://schemas.openxmlformats.org/drawingml/2006/main">
              <a:ext uri="{FF2B5EF4-FFF2-40B4-BE49-F238E27FC236}">
                <a16:creationId xmlns:a16="http://schemas.microsoft.com/office/drawing/2014/main" id="{03CC183C-3E8B-4444-8A33-14FB690158F0}"/>
              </a:ext>
            </a:extLst>
          </p:cNvPr>
          <p:cNvSpPr>
            <a:spLocks xmlns:a="http://schemas.openxmlformats.org/drawingml/2006/main" noGrp="1"/>
          </p:cNvSpPr>
          <p:nvPr/>
        </p:nvSpPr>
        <p:spPr>
          <a:xfrm xmlns:a="http://schemas.openxmlformats.org/drawingml/2006/main">
            <a:off x="8686800" y="2781300"/>
            <a:ext cx="2114550" cy="419100"/>
          </a:xfrm>
          <a:prstGeom xmlns:a="http://schemas.openxmlformats.org/drawingml/2006/main" prst="rect">
            <a:avLst/>
          </a:prstGeom>
          <a:solidFill xmlns:a="http://schemas.openxmlformats.org/drawingml/2006/main">
            <a:srgbClr val="FFF7ED"/>
          </a:solidFill>
          <a:ln xmlns:a="http://schemas.openxmlformats.org/drawingml/2006/main" w="0">
            <a:noFill/>
          </a:ln>
        </p:spPr>
        <p:txBody>
          <a:bodyPr xmlns:a="http://schemas.openxmlformats.org/drawingml/2006/main" wrap="square" lIns="76200" tIns="76200" rIns="76200" bIns="76200">
            <a:normAutofit fontScale="72503"/>
          </a:bodyPr>
          <a:lstStyle xmlns:a="http://schemas.openxmlformats.org/drawingml/2006/main"/>
          <a:p xmlns:a="http://schemas.openxmlformats.org/drawingml/2006/main">
            <a:pPr algn="l">
              <a:defRPr sz="1200" b="0">
                <a:solidFill>
                  <a:srgbClr val="334155"/>
                </a:solidFill>
                <a:latin typeface="Arial"/>
                <a:ea typeface="Arial"/>
                <a:cs typeface="Arial"/>
              </a:defRPr>
            </a:pPr>
            <a:r>
              <a:rPr sz="1200" b="0">
                <a:solidFill>
                  <a:srgbClr val="334155"/>
                </a:solidFill>
                <a:latin typeface="Arial"/>
                <a:ea typeface="Arial"/>
                <a:cs typeface="Arial"/>
              </a:rPr>
              <a:t>estimated next-day impact from a +1 vol point increase in the paper-style spread</a:t>
            </a:r>
          </a:p>
        </p:txBody>
      </p:sp>
      <p:sp>
        <p:nvSpPr>
          <p:cNvPr id="38" name="">
            <a:extLst xmlns:a="http://schemas.openxmlformats.org/drawingml/2006/main">
              <a:ext uri="{FF2B5EF4-FFF2-40B4-BE49-F238E27FC236}">
                <a16:creationId xmlns:a16="http://schemas.microsoft.com/office/drawing/2014/main" id="{593E0739-1B97-47B9-ADA6-585FAD542D1C}"/>
              </a:ext>
            </a:extLst>
          </p:cNvPr>
          <p:cNvSpPr>
            <a:spLocks xmlns:a="http://schemas.openxmlformats.org/drawingml/2006/main" noGrp="1"/>
          </p:cNvSpPr>
          <p:nvPr/>
        </p:nvSpPr>
        <p:spPr>
          <a:xfrm xmlns:a="http://schemas.openxmlformats.org/drawingml/2006/main">
            <a:off x="8439150" y="3638550"/>
            <a:ext cx="2705100" cy="1123950"/>
          </a:xfrm>
          <a:prstGeom xmlns:a="http://schemas.openxmlformats.org/drawingml/2006/main" prst="rect">
            <a:avLst/>
          </a:prstGeom>
          <a:solidFill xmlns:a="http://schemas.openxmlformats.org/drawingml/2006/main">
            <a:srgbClr val="F8FAFC"/>
          </a:solidFill>
          <a:ln xmlns:a="http://schemas.openxmlformats.org/drawingml/2006/main" w="9525">
            <a:solidFill>
              <a:srgbClr val="D9D5C8"/>
            </a:solidFill>
          </a:ln>
        </p:spPr>
      </p:sp>
      <p:sp>
        <p:nvSpPr>
          <p:cNvPr id="39" name="">
            <a:extLst xmlns:a="http://schemas.openxmlformats.org/drawingml/2006/main">
              <a:ext uri="{FF2B5EF4-FFF2-40B4-BE49-F238E27FC236}">
                <a16:creationId xmlns:a16="http://schemas.microsoft.com/office/drawing/2014/main" id="{CB4686D5-D43E-40DE-9C12-56329F2D5C2C}"/>
              </a:ext>
            </a:extLst>
          </p:cNvPr>
          <p:cNvSpPr>
            <a:spLocks xmlns:a="http://schemas.openxmlformats.org/drawingml/2006/main" noGrp="1"/>
          </p:cNvSpPr>
          <p:nvPr/>
        </p:nvSpPr>
        <p:spPr>
          <a:xfrm xmlns:a="http://schemas.openxmlformats.org/drawingml/2006/main">
            <a:off x="8667750" y="3848100"/>
            <a:ext cx="2190750" cy="304800"/>
          </a:xfrm>
          <a:prstGeom xmlns:a="http://schemas.openxmlformats.org/drawingml/2006/main" prst="rect">
            <a:avLst/>
          </a:prstGeom>
          <a:solidFill xmlns:a="http://schemas.openxmlformats.org/drawingml/2006/main">
            <a:srgbClr val="F8FAFC"/>
          </a:solidFill>
          <a:ln xmlns:a="http://schemas.openxmlformats.org/drawingml/2006/main" w="0">
            <a:noFill/>
          </a:ln>
        </p:spPr>
        <p:txBody>
          <a:bodyPr xmlns:a="http://schemas.openxmlformats.org/drawingml/2006/main" wrap="square" lIns="76200" tIns="76200" rIns="76200" bIns="76200">
            <a:normAutofit fontScale="55555"/>
          </a:bodyPr>
          <a:lstStyle xmlns:a="http://schemas.openxmlformats.org/drawingml/2006/main"/>
          <a:p xmlns:a="http://schemas.openxmlformats.org/drawingml/2006/main">
            <a:pPr algn="l">
              <a:defRPr sz="1800" b="1">
                <a:solidFill>
                  <a:srgbClr val="172033"/>
                </a:solidFill>
                <a:latin typeface="Arial"/>
                <a:ea typeface="Arial"/>
                <a:cs typeface="Arial"/>
              </a:defRPr>
            </a:pPr>
            <a:r>
              <a:rPr sz="1800" b="1">
                <a:solidFill>
                  <a:srgbClr val="172033"/>
                </a:solidFill>
                <a:latin typeface="Arial"/>
                <a:ea typeface="Arial"/>
                <a:cs typeface="Arial"/>
              </a:rPr>
              <a:t>But p = 0.120</a:t>
            </a:r>
          </a:p>
        </p:txBody>
      </p:sp>
      <p:sp>
        <p:nvSpPr>
          <p:cNvPr id="40" name="">
            <a:extLst xmlns:a="http://schemas.openxmlformats.org/drawingml/2006/main">
              <a:ext uri="{FF2B5EF4-FFF2-40B4-BE49-F238E27FC236}">
                <a16:creationId xmlns:a16="http://schemas.microsoft.com/office/drawing/2014/main" id="{59241E5D-CA0C-497C-AFC6-1876CF63A8F8}"/>
              </a:ext>
            </a:extLst>
          </p:cNvPr>
          <p:cNvSpPr>
            <a:spLocks xmlns:a="http://schemas.openxmlformats.org/drawingml/2006/main" noGrp="1"/>
          </p:cNvSpPr>
          <p:nvPr/>
        </p:nvSpPr>
        <p:spPr>
          <a:xfrm xmlns:a="http://schemas.openxmlformats.org/drawingml/2006/main">
            <a:off x="8686800" y="4267200"/>
            <a:ext cx="2095500" cy="304800"/>
          </a:xfrm>
          <a:prstGeom xmlns:a="http://schemas.openxmlformats.org/drawingml/2006/main" prst="rect">
            <a:avLst/>
          </a:prstGeom>
          <a:solidFill xmlns:a="http://schemas.openxmlformats.org/drawingml/2006/main">
            <a:srgbClr val="F8FAFC"/>
          </a:solidFill>
          <a:ln xmlns:a="http://schemas.openxmlformats.org/drawingml/2006/main" w="0">
            <a:noFill/>
          </a:ln>
        </p:spPr>
        <p:txBody>
          <a:bodyPr xmlns:a="http://schemas.openxmlformats.org/drawingml/2006/main" wrap="square" lIns="76200" tIns="76200" rIns="76200" bIns="76200">
            <a:normAutofit fontScale="50659"/>
          </a:bodyPr>
          <a:lstStyle xmlns:a="http://schemas.openxmlformats.org/drawingml/2006/main"/>
          <a:p xmlns:a="http://schemas.openxmlformats.org/drawingml/2006/main">
            <a:pPr algn="l">
              <a:defRPr sz="1200" b="0">
                <a:solidFill>
                  <a:srgbClr val="334155"/>
                </a:solidFill>
                <a:latin typeface="Arial"/>
                <a:ea typeface="Arial"/>
                <a:cs typeface="Arial"/>
              </a:defRPr>
            </a:pPr>
            <a:r>
              <a:rPr sz="1200" b="0">
                <a:solidFill>
                  <a:srgbClr val="334155"/>
                </a:solidFill>
                <a:latin typeface="Arial"/>
                <a:ea typeface="Arial"/>
                <a:cs typeface="Arial"/>
              </a:rPr>
              <a:t>Directionally consistent, not a clean statistical replication.</a:t>
            </a:r>
          </a:p>
        </p:txBody>
      </p:sp>
      <p:sp>
        <p:nvSpPr>
          <p:cNvPr id="41" name="">
            <a:extLst xmlns:a="http://schemas.openxmlformats.org/drawingml/2006/main">
              <a:ext uri="{FF2B5EF4-FFF2-40B4-BE49-F238E27FC236}">
                <a16:creationId xmlns:a16="http://schemas.microsoft.com/office/drawing/2014/main" id="{F5FE62DD-ADAA-4B2A-BC4D-5DF72A2A347D}"/>
              </a:ext>
            </a:extLst>
          </p:cNvPr>
          <p:cNvSpPr>
            <a:spLocks xmlns:a="http://schemas.openxmlformats.org/drawingml/2006/main" noGrp="1"/>
          </p:cNvSpPr>
          <p:nvPr/>
        </p:nvSpPr>
        <p:spPr>
          <a:xfrm xmlns:a="http://schemas.openxmlformats.org/drawingml/2006/main">
            <a:off x="457200" y="6496050"/>
            <a:ext cx="8382000" cy="2095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750" b="0">
                <a:solidFill>
                  <a:srgbClr val="64748B"/>
                </a:solidFill>
                <a:latin typeface="Arial"/>
                <a:ea typeface="Arial"/>
                <a:cs typeface="Arial"/>
              </a:defRPr>
            </a:pPr>
            <a:r>
              <a:rPr sz="750" b="0">
                <a:solidFill>
                  <a:srgbClr val="64748B"/>
                </a:solidFill>
                <a:latin typeface="Arial"/>
                <a:ea typeface="Arial"/>
                <a:cs typeface="Arial"/>
              </a:rPr>
              <a:t>Source: local replication of Atilgan, Bali, and Demirtas (2015) signal on OptionDataNM2026.csv</a:t>
            </a:r>
          </a:p>
        </p:txBody>
      </p:sp>
      <p:sp>
        <p:nvSpPr>
          <p:cNvPr id="42" name="">
            <a:extLst xmlns:a="http://schemas.openxmlformats.org/drawingml/2006/main">
              <a:ext uri="{FF2B5EF4-FFF2-40B4-BE49-F238E27FC236}">
                <a16:creationId xmlns:a16="http://schemas.microsoft.com/office/drawing/2014/main" id="{CE40D880-66AA-403E-99CE-8CBB3F7B897F}"/>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sz="750" b="0">
                <a:solidFill>
                  <a:srgbClr val="64748B"/>
                </a:solidFill>
                <a:latin typeface="Arial"/>
                <a:ea typeface="Arial"/>
                <a:cs typeface="Arial"/>
              </a:defRPr>
            </a:pPr>
            <a:r>
              <a:rPr sz="750" b="0">
                <a:solidFill>
                  <a:srgbClr val="64748B"/>
                </a:solidFill>
                <a:latin typeface="Arial"/>
                <a:ea typeface="Arial"/>
                <a:cs typeface="Arial"/>
              </a:rPr>
              <a:t>4</a:t>
            </a:r>
          </a:p>
        </p:txBody>
      </p:sp>
    </p:spTree>
    <p:extLst>
      <p:ext uri="{BB962C8B-B14F-4D97-AF65-F5344CB8AC3E}">
        <p14:creationId xmlns:p14="http://schemas.microsoft.com/office/powerpoint/2010/main" val="108427572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1BE21ED-02F7-4C55-9ED7-5519C87DEAB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ln>
        </p:spPr>
      </p:sp>
      <p:sp>
        <p:nvSpPr>
          <p:cNvPr id="2" name="">
            <a:extLst xmlns:a="http://schemas.openxmlformats.org/drawingml/2006/main">
              <a:ext uri="{FF2B5EF4-FFF2-40B4-BE49-F238E27FC236}">
                <a16:creationId xmlns:a16="http://schemas.microsoft.com/office/drawing/2014/main" id="{5453BA81-8C4E-4CB7-86E9-68F66EF7882A}"/>
              </a:ext>
            </a:extLst>
          </p:cNvPr>
          <p:cNvSpPr>
            <a:spLocks xmlns:a="http://schemas.openxmlformats.org/drawingml/2006/main" noGrp="1"/>
          </p:cNvSpPr>
          <p:nvPr/>
        </p:nvSpPr>
        <p:spPr>
          <a:xfrm xmlns:a="http://schemas.openxmlformats.org/drawingml/2006/main">
            <a:off x="514350" y="323850"/>
            <a:ext cx="3048000" cy="26670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38100" rIns="0" bIns="0">
            <a:normAutofit fontScale="100000"/>
          </a:bodyPr>
          <a:lstStyle xmlns:a="http://schemas.openxmlformats.org/drawingml/2006/main"/>
          <a:p xmlns:a="http://schemas.openxmlformats.org/drawingml/2006/main">
            <a:pPr algn="l">
              <a:defRPr sz="975" b="1">
                <a:solidFill>
                  <a:srgbClr val="C2410C"/>
                </a:solidFill>
                <a:latin typeface="Arial"/>
                <a:ea typeface="Arial"/>
                <a:cs typeface="Arial"/>
              </a:defRPr>
            </a:pPr>
            <a:r>
              <a:rPr sz="975" b="1">
                <a:solidFill>
                  <a:srgbClr val="C2410C"/>
                </a:solidFill>
                <a:latin typeface="Arial"/>
                <a:ea typeface="Arial"/>
                <a:cs typeface="Arial"/>
              </a:rPr>
              <a:t>TRADING TEST</a:t>
            </a:r>
          </a:p>
        </p:txBody>
      </p:sp>
      <p:sp>
        <p:nvSpPr>
          <p:cNvPr id="3" name="">
            <a:extLst xmlns:a="http://schemas.openxmlformats.org/drawingml/2006/main">
              <a:ext uri="{FF2B5EF4-FFF2-40B4-BE49-F238E27FC236}">
                <a16:creationId xmlns:a16="http://schemas.microsoft.com/office/drawing/2014/main" id="{ADD41BA6-1F70-4C1F-A2BB-C609836BF9A1}"/>
              </a:ext>
            </a:extLst>
          </p:cNvPr>
          <p:cNvSpPr>
            <a:spLocks xmlns:a="http://schemas.openxmlformats.org/drawingml/2006/main" noGrp="1"/>
          </p:cNvSpPr>
          <p:nvPr/>
        </p:nvSpPr>
        <p:spPr>
          <a:xfrm xmlns:a="http://schemas.openxmlformats.org/drawingml/2006/main">
            <a:off x="457200" y="628650"/>
            <a:ext cx="8858250" cy="91440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3000" b="1">
                <a:solidFill>
                  <a:srgbClr val="172033"/>
                </a:solidFill>
                <a:latin typeface="Arial"/>
                <a:ea typeface="Arial"/>
                <a:cs typeface="Arial"/>
              </a:defRPr>
            </a:pPr>
            <a:r>
              <a:rPr sz="3000" b="1">
                <a:solidFill>
                  <a:srgbClr val="172033"/>
                </a:solidFill>
                <a:latin typeface="Arial"/>
                <a:ea typeface="Arial"/>
                <a:cs typeface="Arial"/>
              </a:rPr>
              <a:t>The timing rule cut some downside, but buy-and-hold still won this sample.</a:t>
            </a:r>
          </a:p>
        </p:txBody>
      </p:sp>
      <p:sp>
        <p:nvSpPr>
          <p:cNvPr id="4" name="">
            <a:extLst xmlns:a="http://schemas.openxmlformats.org/drawingml/2006/main">
              <a:ext uri="{FF2B5EF4-FFF2-40B4-BE49-F238E27FC236}">
                <a16:creationId xmlns:a16="http://schemas.microsoft.com/office/drawing/2014/main" id="{7A2751B4-1F0E-4257-A3FF-4D8E741B51EB}"/>
              </a:ext>
            </a:extLst>
          </p:cNvPr>
          <p:cNvSpPr>
            <a:spLocks xmlns:a="http://schemas.openxmlformats.org/drawingml/2006/main" noGrp="1"/>
          </p:cNvSpPr>
          <p:nvPr/>
        </p:nvSpPr>
        <p:spPr>
          <a:xfrm xmlns:a="http://schemas.openxmlformats.org/drawingml/2006/main">
            <a:off x="666750" y="2038350"/>
            <a:ext cx="7048500" cy="323850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5" name="">
            <a:extLst xmlns:a="http://schemas.openxmlformats.org/drawingml/2006/main">
              <a:ext uri="{FF2B5EF4-FFF2-40B4-BE49-F238E27FC236}">
                <a16:creationId xmlns:a16="http://schemas.microsoft.com/office/drawing/2014/main" id="{8F36DDA0-888B-4D9C-B9DD-490F1AB8D447}"/>
              </a:ext>
            </a:extLst>
          </p:cNvPr>
          <p:cNvSpPr>
            <a:spLocks xmlns:a="http://schemas.openxmlformats.org/drawingml/2006/main" noGrp="1"/>
          </p:cNvSpPr>
          <p:nvPr/>
        </p:nvSpPr>
        <p:spPr>
          <a:xfrm xmlns:a="http://schemas.openxmlformats.org/drawingml/2006/main">
            <a:off x="952500" y="2266950"/>
            <a:ext cx="5334000" cy="2667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55555"/>
          </a:bodyPr>
          <a:lstStyle xmlns:a="http://schemas.openxmlformats.org/drawingml/2006/main"/>
          <a:p xmlns:a="http://schemas.openxmlformats.org/drawingml/2006/main">
            <a:pPr algn="l">
              <a:defRPr sz="1350" b="1">
                <a:solidFill>
                  <a:srgbClr val="172033"/>
                </a:solidFill>
                <a:latin typeface="Arial"/>
                <a:ea typeface="Arial"/>
                <a:cs typeface="Arial"/>
              </a:defRPr>
            </a:pPr>
            <a:r>
              <a:rPr sz="1350" b="1">
                <a:solidFill>
                  <a:srgbClr val="172033"/>
                </a:solidFill>
                <a:latin typeface="Arial"/>
                <a:ea typeface="Arial"/>
                <a:cs typeface="Arial"/>
              </a:rPr>
              <a:t>$100 growth, expanding-window out-of-sample period</a:t>
            </a:r>
          </a:p>
        </p:txBody>
      </p:sp>
      <p:sp>
        <p:nvSpPr>
          <p:cNvPr id="6" name="">
            <a:extLst xmlns:a="http://schemas.openxmlformats.org/drawingml/2006/main">
              <a:ext uri="{FF2B5EF4-FFF2-40B4-BE49-F238E27FC236}">
                <a16:creationId xmlns:a16="http://schemas.microsoft.com/office/drawing/2014/main" id="{213ACEC8-45C9-46E2-954E-FD8B09154BED}"/>
              </a:ext>
            </a:extLst>
          </p:cNvPr>
          <p:cNvSpPr>
            <a:spLocks xmlns:a="http://schemas.openxmlformats.org/drawingml/2006/main" noGrp="1"/>
          </p:cNvSpPr>
          <p:nvPr/>
        </p:nvSpPr>
        <p:spPr>
          <a:xfrm xmlns:a="http://schemas.openxmlformats.org/drawingml/2006/main">
            <a:off x="1066800" y="2895600"/>
            <a:ext cx="2000250" cy="2476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1200" b="0">
                <a:solidFill>
                  <a:srgbClr val="172033"/>
                </a:solidFill>
                <a:latin typeface="Arial"/>
                <a:ea typeface="Arial"/>
                <a:cs typeface="Arial"/>
              </a:defRPr>
            </a:pPr>
            <a:r>
              <a:rPr sz="1200" b="0">
                <a:solidFill>
                  <a:srgbClr val="172033"/>
                </a:solidFill>
                <a:latin typeface="Arial"/>
                <a:ea typeface="Arial"/>
                <a:cs typeface="Arial"/>
              </a:rPr>
              <a:t>Buy and hold</a:t>
            </a:r>
          </a:p>
        </p:txBody>
      </p:sp>
      <p:sp>
        <p:nvSpPr>
          <p:cNvPr id="7" name="">
            <a:extLst xmlns:a="http://schemas.openxmlformats.org/drawingml/2006/main">
              <a:ext uri="{FF2B5EF4-FFF2-40B4-BE49-F238E27FC236}">
                <a16:creationId xmlns:a16="http://schemas.microsoft.com/office/drawing/2014/main" id="{0C646119-FDD7-466B-B33B-CEA028B5325D}"/>
              </a:ext>
            </a:extLst>
          </p:cNvPr>
          <p:cNvSpPr>
            <a:spLocks xmlns:a="http://schemas.openxmlformats.org/drawingml/2006/main" noGrp="1"/>
          </p:cNvSpPr>
          <p:nvPr/>
        </p:nvSpPr>
        <p:spPr>
          <a:xfrm xmlns:a="http://schemas.openxmlformats.org/drawingml/2006/main">
            <a:off x="3257550" y="2933700"/>
            <a:ext cx="3714750" cy="171450"/>
          </a:xfrm>
          <a:prstGeom xmlns:a="http://schemas.openxmlformats.org/drawingml/2006/main" prst="rect">
            <a:avLst/>
          </a:prstGeom>
          <a:solidFill xmlns:a="http://schemas.openxmlformats.org/drawingml/2006/main">
            <a:srgbClr val="EEE8D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041656B-BC02-4DCE-A11C-B178D0647E19}"/>
              </a:ext>
            </a:extLst>
          </p:cNvPr>
          <p:cNvSpPr>
            <a:spLocks xmlns:a="http://schemas.openxmlformats.org/drawingml/2006/main" noGrp="1"/>
          </p:cNvSpPr>
          <p:nvPr/>
        </p:nvSpPr>
        <p:spPr>
          <a:xfrm xmlns:a="http://schemas.openxmlformats.org/drawingml/2006/main">
            <a:off x="3257550" y="2933700"/>
            <a:ext cx="3124336" cy="171450"/>
          </a:xfrm>
          <a:prstGeom xmlns:a="http://schemas.openxmlformats.org/drawingml/2006/main" prst="rect">
            <a:avLst/>
          </a:prstGeom>
          <a:solidFill xmlns:a="http://schemas.openxmlformats.org/drawingml/2006/main">
            <a:srgbClr val="1D4ED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096D96C-47D1-4800-B292-9BF5B9F7876A}"/>
              </a:ext>
            </a:extLst>
          </p:cNvPr>
          <p:cNvSpPr>
            <a:spLocks xmlns:a="http://schemas.openxmlformats.org/drawingml/2006/main" noGrp="1"/>
          </p:cNvSpPr>
          <p:nvPr/>
        </p:nvSpPr>
        <p:spPr>
          <a:xfrm xmlns:a="http://schemas.openxmlformats.org/drawingml/2006/main">
            <a:off x="7067550" y="2876550"/>
            <a:ext cx="857250" cy="26670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1200" b="1">
                <a:solidFill>
                  <a:srgbClr val="1D4ED8"/>
                </a:solidFill>
                <a:latin typeface="Arial"/>
                <a:ea typeface="Arial"/>
                <a:cs typeface="Arial"/>
              </a:defRPr>
            </a:pPr>
            <a:r>
              <a:rPr sz="1200" b="1">
                <a:solidFill>
                  <a:srgbClr val="1D4ED8"/>
                </a:solidFill>
                <a:latin typeface="Arial"/>
                <a:ea typeface="Arial"/>
                <a:cs typeface="Arial"/>
              </a:rPr>
              <a:t>159.8</a:t>
            </a:r>
          </a:p>
        </p:txBody>
      </p:sp>
      <p:sp>
        <p:nvSpPr>
          <p:cNvPr id="10" name="">
            <a:extLst xmlns:a="http://schemas.openxmlformats.org/drawingml/2006/main">
              <a:ext uri="{FF2B5EF4-FFF2-40B4-BE49-F238E27FC236}">
                <a16:creationId xmlns:a16="http://schemas.microsoft.com/office/drawing/2014/main" id="{F3DD33E2-38C8-4298-9DA2-6D8F85D397AF}"/>
              </a:ext>
            </a:extLst>
          </p:cNvPr>
          <p:cNvSpPr>
            <a:spLocks xmlns:a="http://schemas.openxmlformats.org/drawingml/2006/main" noGrp="1"/>
          </p:cNvSpPr>
          <p:nvPr/>
        </p:nvSpPr>
        <p:spPr>
          <a:xfrm xmlns:a="http://schemas.openxmlformats.org/drawingml/2006/main">
            <a:off x="1066800" y="3505200"/>
            <a:ext cx="2000250" cy="2476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1200" b="0">
                <a:solidFill>
                  <a:srgbClr val="172033"/>
                </a:solidFill>
                <a:latin typeface="Arial"/>
                <a:ea typeface="Arial"/>
                <a:cs typeface="Arial"/>
              </a:defRPr>
            </a:pPr>
            <a:r>
              <a:rPr sz="1200" b="0">
                <a:solidFill>
                  <a:srgbClr val="172033"/>
                </a:solidFill>
                <a:latin typeface="Arial"/>
                <a:ea typeface="Arial"/>
                <a:cs typeface="Arial"/>
              </a:rPr>
              <a:t>Forecast strategy, net</a:t>
            </a:r>
          </a:p>
        </p:txBody>
      </p:sp>
      <p:sp>
        <p:nvSpPr>
          <p:cNvPr id="11" name="">
            <a:extLst xmlns:a="http://schemas.openxmlformats.org/drawingml/2006/main">
              <a:ext uri="{FF2B5EF4-FFF2-40B4-BE49-F238E27FC236}">
                <a16:creationId xmlns:a16="http://schemas.microsoft.com/office/drawing/2014/main" id="{471F3E59-6AC8-484E-A6DC-90A3085611F4}"/>
              </a:ext>
            </a:extLst>
          </p:cNvPr>
          <p:cNvSpPr>
            <a:spLocks xmlns:a="http://schemas.openxmlformats.org/drawingml/2006/main" noGrp="1"/>
          </p:cNvSpPr>
          <p:nvPr/>
        </p:nvSpPr>
        <p:spPr>
          <a:xfrm xmlns:a="http://schemas.openxmlformats.org/drawingml/2006/main">
            <a:off x="3257550" y="3543300"/>
            <a:ext cx="3714750" cy="171450"/>
          </a:xfrm>
          <a:prstGeom xmlns:a="http://schemas.openxmlformats.org/drawingml/2006/main" prst="rect">
            <a:avLst/>
          </a:prstGeom>
          <a:solidFill xmlns:a="http://schemas.openxmlformats.org/drawingml/2006/main">
            <a:srgbClr val="EEE8D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D1F5877-6096-4790-8A9C-D0ACA11CEA9F}"/>
              </a:ext>
            </a:extLst>
          </p:cNvPr>
          <p:cNvSpPr>
            <a:spLocks xmlns:a="http://schemas.openxmlformats.org/drawingml/2006/main" noGrp="1"/>
          </p:cNvSpPr>
          <p:nvPr/>
        </p:nvSpPr>
        <p:spPr>
          <a:xfrm xmlns:a="http://schemas.openxmlformats.org/drawingml/2006/main">
            <a:off x="3257550" y="3543300"/>
            <a:ext cx="2718180" cy="171450"/>
          </a:xfrm>
          <a:prstGeom xmlns:a="http://schemas.openxmlformats.org/drawingml/2006/main" prst="rect">
            <a:avLst/>
          </a:prstGeom>
          <a:solidFill xmlns:a="http://schemas.openxmlformats.org/drawingml/2006/main">
            <a:srgbClr val="0F766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1955C8D-FF72-4FBF-9413-3A4D7CA48E8A}"/>
              </a:ext>
            </a:extLst>
          </p:cNvPr>
          <p:cNvSpPr>
            <a:spLocks xmlns:a="http://schemas.openxmlformats.org/drawingml/2006/main" noGrp="1"/>
          </p:cNvSpPr>
          <p:nvPr/>
        </p:nvSpPr>
        <p:spPr>
          <a:xfrm xmlns:a="http://schemas.openxmlformats.org/drawingml/2006/main">
            <a:off x="7067550" y="3486150"/>
            <a:ext cx="857250" cy="26670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1200" b="1">
                <a:solidFill>
                  <a:srgbClr val="0F766E"/>
                </a:solidFill>
                <a:latin typeface="Arial"/>
                <a:ea typeface="Arial"/>
                <a:cs typeface="Arial"/>
              </a:defRPr>
            </a:pPr>
            <a:r>
              <a:rPr sz="1200" b="1">
                <a:solidFill>
                  <a:srgbClr val="0F766E"/>
                </a:solidFill>
                <a:latin typeface="Arial"/>
                <a:ea typeface="Arial"/>
                <a:cs typeface="Arial"/>
              </a:rPr>
              <a:t>139.0</a:t>
            </a:r>
          </a:p>
        </p:txBody>
      </p:sp>
      <p:sp>
        <p:nvSpPr>
          <p:cNvPr id="14" name="">
            <a:extLst xmlns:a="http://schemas.openxmlformats.org/drawingml/2006/main">
              <a:ext uri="{FF2B5EF4-FFF2-40B4-BE49-F238E27FC236}">
                <a16:creationId xmlns:a16="http://schemas.microsoft.com/office/drawing/2014/main" id="{C380324B-47CA-456F-956B-7AB91C1A0EE8}"/>
              </a:ext>
            </a:extLst>
          </p:cNvPr>
          <p:cNvSpPr>
            <a:spLocks xmlns:a="http://schemas.openxmlformats.org/drawingml/2006/main" noGrp="1"/>
          </p:cNvSpPr>
          <p:nvPr/>
        </p:nvSpPr>
        <p:spPr>
          <a:xfrm xmlns:a="http://schemas.openxmlformats.org/drawingml/2006/main">
            <a:off x="1066800" y="4114800"/>
            <a:ext cx="2000250" cy="2476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1200" b="0">
                <a:solidFill>
                  <a:srgbClr val="172033"/>
                </a:solidFill>
                <a:latin typeface="Arial"/>
                <a:ea typeface="Arial"/>
                <a:cs typeface="Arial"/>
              </a:defRPr>
            </a:pPr>
            <a:r>
              <a:rPr sz="1200" b="0">
                <a:solidFill>
                  <a:srgbClr val="172033"/>
                </a:solidFill>
                <a:latin typeface="Arial"/>
                <a:ea typeface="Arial"/>
                <a:cs typeface="Arial"/>
              </a:rPr>
              <a:t>Risk-free cash</a:t>
            </a:r>
          </a:p>
        </p:txBody>
      </p:sp>
      <p:sp>
        <p:nvSpPr>
          <p:cNvPr id="15" name="">
            <a:extLst xmlns:a="http://schemas.openxmlformats.org/drawingml/2006/main">
              <a:ext uri="{FF2B5EF4-FFF2-40B4-BE49-F238E27FC236}">
                <a16:creationId xmlns:a16="http://schemas.microsoft.com/office/drawing/2014/main" id="{5A8A5110-E3F2-40EE-8FA7-71D91A09B12A}"/>
              </a:ext>
            </a:extLst>
          </p:cNvPr>
          <p:cNvSpPr>
            <a:spLocks xmlns:a="http://schemas.openxmlformats.org/drawingml/2006/main" noGrp="1"/>
          </p:cNvSpPr>
          <p:nvPr/>
        </p:nvSpPr>
        <p:spPr>
          <a:xfrm xmlns:a="http://schemas.openxmlformats.org/drawingml/2006/main">
            <a:off x="3257550" y="4152900"/>
            <a:ext cx="3714750" cy="171450"/>
          </a:xfrm>
          <a:prstGeom xmlns:a="http://schemas.openxmlformats.org/drawingml/2006/main" prst="rect">
            <a:avLst/>
          </a:prstGeom>
          <a:solidFill xmlns:a="http://schemas.openxmlformats.org/drawingml/2006/main">
            <a:srgbClr val="EEE8D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06D310D-36DB-4EFD-B98C-7DB087D73C9B}"/>
              </a:ext>
            </a:extLst>
          </p:cNvPr>
          <p:cNvSpPr>
            <a:spLocks xmlns:a="http://schemas.openxmlformats.org/drawingml/2006/main" noGrp="1"/>
          </p:cNvSpPr>
          <p:nvPr/>
        </p:nvSpPr>
        <p:spPr>
          <a:xfrm xmlns:a="http://schemas.openxmlformats.org/drawingml/2006/main">
            <a:off x="3257550" y="4152900"/>
            <a:ext cx="1986722" cy="171450"/>
          </a:xfrm>
          <a:prstGeom xmlns:a="http://schemas.openxmlformats.org/drawingml/2006/main" prst="rect">
            <a:avLst/>
          </a:prstGeom>
          <a:solidFill xmlns:a="http://schemas.openxmlformats.org/drawingml/2006/main">
            <a:srgbClr val="64748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70F4385-6BC1-4C57-BE9C-6A6A90A33590}"/>
              </a:ext>
            </a:extLst>
          </p:cNvPr>
          <p:cNvSpPr>
            <a:spLocks xmlns:a="http://schemas.openxmlformats.org/drawingml/2006/main" noGrp="1"/>
          </p:cNvSpPr>
          <p:nvPr/>
        </p:nvSpPr>
        <p:spPr>
          <a:xfrm xmlns:a="http://schemas.openxmlformats.org/drawingml/2006/main">
            <a:off x="7067550" y="4095750"/>
            <a:ext cx="857250" cy="26670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1200" b="1">
                <a:solidFill>
                  <a:srgbClr val="64748B"/>
                </a:solidFill>
                <a:latin typeface="Arial"/>
                <a:ea typeface="Arial"/>
                <a:cs typeface="Arial"/>
              </a:defRPr>
            </a:pPr>
            <a:r>
              <a:rPr sz="1200" b="1">
                <a:solidFill>
                  <a:srgbClr val="64748B"/>
                </a:solidFill>
                <a:latin typeface="Arial"/>
                <a:ea typeface="Arial"/>
                <a:cs typeface="Arial"/>
              </a:rPr>
              <a:t>101.6</a:t>
            </a:r>
          </a:p>
        </p:txBody>
      </p:sp>
      <p:sp>
        <p:nvSpPr>
          <p:cNvPr id="18" name="">
            <a:extLst xmlns:a="http://schemas.openxmlformats.org/drawingml/2006/main">
              <a:ext uri="{FF2B5EF4-FFF2-40B4-BE49-F238E27FC236}">
                <a16:creationId xmlns:a16="http://schemas.microsoft.com/office/drawing/2014/main" id="{1FF3C790-3682-44FB-9DE2-8517E81AB5FF}"/>
              </a:ext>
            </a:extLst>
          </p:cNvPr>
          <p:cNvSpPr>
            <a:spLocks xmlns:a="http://schemas.openxmlformats.org/drawingml/2006/main" noGrp="1"/>
          </p:cNvSpPr>
          <p:nvPr/>
        </p:nvSpPr>
        <p:spPr>
          <a:xfrm xmlns:a="http://schemas.openxmlformats.org/drawingml/2006/main">
            <a:off x="8420100" y="2247900"/>
            <a:ext cx="2609850" cy="91440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76200" tIns="76200" rIns="76200" bIns="76200">
            <a:normAutofit fontScale="78112"/>
          </a:bodyPr>
          <a:lstStyle xmlns:a="http://schemas.openxmlformats.org/drawingml/2006/main"/>
          <a:p xmlns:a="http://schemas.openxmlformats.org/drawingml/2006/main">
            <a:pPr algn="l">
              <a:defRPr sz="1575" b="1">
                <a:solidFill>
                  <a:srgbClr val="172033"/>
                </a:solidFill>
                <a:latin typeface="Arial"/>
                <a:ea typeface="Arial"/>
                <a:cs typeface="Arial"/>
              </a:defRPr>
            </a:pPr>
            <a:r>
              <a:rPr sz="1575" b="1">
                <a:solidFill>
                  <a:srgbClr val="172033"/>
                </a:solidFill>
                <a:latin typeface="Arial"/>
                <a:ea typeface="Arial"/>
                <a:cs typeface="Arial"/>
              </a:rPr>
              <a:t>The strategy performs best when avoiding corrections, but loses relative ground when the market rallies after a cash signal.</a:t>
            </a:r>
          </a:p>
        </p:txBody>
      </p:sp>
      <p:sp>
        <p:nvSpPr>
          <p:cNvPr id="19" name="">
            <a:extLst xmlns:a="http://schemas.openxmlformats.org/drawingml/2006/main">
              <a:ext uri="{FF2B5EF4-FFF2-40B4-BE49-F238E27FC236}">
                <a16:creationId xmlns:a16="http://schemas.microsoft.com/office/drawing/2014/main" id="{101A6E26-E83B-4432-9CE8-6B54DCE25E1D}"/>
              </a:ext>
            </a:extLst>
          </p:cNvPr>
          <p:cNvSpPr>
            <a:spLocks xmlns:a="http://schemas.openxmlformats.org/drawingml/2006/main" noGrp="1"/>
          </p:cNvSpPr>
          <p:nvPr/>
        </p:nvSpPr>
        <p:spPr>
          <a:xfrm xmlns:a="http://schemas.openxmlformats.org/drawingml/2006/main">
            <a:off x="8324850" y="3638550"/>
            <a:ext cx="2476500" cy="91440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20" name="">
            <a:extLst xmlns:a="http://schemas.openxmlformats.org/drawingml/2006/main">
              <a:ext uri="{FF2B5EF4-FFF2-40B4-BE49-F238E27FC236}">
                <a16:creationId xmlns:a16="http://schemas.microsoft.com/office/drawing/2014/main" id="{54DF39B5-E689-4DDE-BD5B-D788776AF719}"/>
              </a:ext>
            </a:extLst>
          </p:cNvPr>
          <p:cNvSpPr>
            <a:spLocks xmlns:a="http://schemas.openxmlformats.org/drawingml/2006/main" noGrp="1"/>
          </p:cNvSpPr>
          <p:nvPr/>
        </p:nvSpPr>
        <p:spPr>
          <a:xfrm xmlns:a="http://schemas.openxmlformats.org/drawingml/2006/main">
            <a:off x="8477250" y="3771900"/>
            <a:ext cx="2171700" cy="1714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825" b="1">
                <a:solidFill>
                  <a:srgbClr val="64748B"/>
                </a:solidFill>
                <a:latin typeface="Arial"/>
                <a:ea typeface="Arial"/>
                <a:cs typeface="Arial"/>
              </a:defRPr>
            </a:pPr>
            <a:r>
              <a:rPr sz="825" b="1">
                <a:solidFill>
                  <a:srgbClr val="64748B"/>
                </a:solidFill>
                <a:latin typeface="Arial"/>
                <a:ea typeface="Arial"/>
                <a:cs typeface="Arial"/>
              </a:rPr>
              <a:t>BUY-HOLD EXCESS SHARPE</a:t>
            </a:r>
          </a:p>
        </p:txBody>
      </p:sp>
      <p:sp>
        <p:nvSpPr>
          <p:cNvPr id="21" name="">
            <a:extLst xmlns:a="http://schemas.openxmlformats.org/drawingml/2006/main">
              <a:ext uri="{FF2B5EF4-FFF2-40B4-BE49-F238E27FC236}">
                <a16:creationId xmlns:a16="http://schemas.microsoft.com/office/drawing/2014/main" id="{4F1F43EF-9067-4F0E-93E1-6D76B513B284}"/>
              </a:ext>
            </a:extLst>
          </p:cNvPr>
          <p:cNvSpPr>
            <a:spLocks xmlns:a="http://schemas.openxmlformats.org/drawingml/2006/main" noGrp="1"/>
          </p:cNvSpPr>
          <p:nvPr/>
        </p:nvSpPr>
        <p:spPr>
          <a:xfrm xmlns:a="http://schemas.openxmlformats.org/drawingml/2006/main">
            <a:off x="8477250" y="4019550"/>
            <a:ext cx="2171700" cy="3810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2250" b="1">
                <a:solidFill>
                  <a:srgbClr val="1D4ED8"/>
                </a:solidFill>
                <a:latin typeface="Arial"/>
                <a:ea typeface="Arial"/>
                <a:cs typeface="Arial"/>
              </a:defRPr>
            </a:pPr>
            <a:r>
              <a:rPr sz="2250" b="1">
                <a:solidFill>
                  <a:srgbClr val="1D4ED8"/>
                </a:solidFill>
                <a:latin typeface="Arial"/>
                <a:ea typeface="Arial"/>
                <a:cs typeface="Arial"/>
              </a:rPr>
              <a:t>0.88</a:t>
            </a:r>
          </a:p>
        </p:txBody>
      </p:sp>
      <p:sp>
        <p:nvSpPr>
          <p:cNvPr id="22" name="">
            <a:extLst xmlns:a="http://schemas.openxmlformats.org/drawingml/2006/main">
              <a:ext uri="{FF2B5EF4-FFF2-40B4-BE49-F238E27FC236}">
                <a16:creationId xmlns:a16="http://schemas.microsoft.com/office/drawing/2014/main" id="{DE714C5A-8EEB-4FDF-A4BB-7D7B3E6FADF4}"/>
              </a:ext>
            </a:extLst>
          </p:cNvPr>
          <p:cNvSpPr>
            <a:spLocks xmlns:a="http://schemas.openxmlformats.org/drawingml/2006/main" noGrp="1"/>
          </p:cNvSpPr>
          <p:nvPr/>
        </p:nvSpPr>
        <p:spPr>
          <a:xfrm xmlns:a="http://schemas.openxmlformats.org/drawingml/2006/main">
            <a:off x="8324850" y="4781550"/>
            <a:ext cx="2476500" cy="91440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23" name="">
            <a:extLst xmlns:a="http://schemas.openxmlformats.org/drawingml/2006/main">
              <a:ext uri="{FF2B5EF4-FFF2-40B4-BE49-F238E27FC236}">
                <a16:creationId xmlns:a16="http://schemas.microsoft.com/office/drawing/2014/main" id="{A778702D-B278-442D-A92A-820FEB32E784}"/>
              </a:ext>
            </a:extLst>
          </p:cNvPr>
          <p:cNvSpPr>
            <a:spLocks xmlns:a="http://schemas.openxmlformats.org/drawingml/2006/main" noGrp="1"/>
          </p:cNvSpPr>
          <p:nvPr/>
        </p:nvSpPr>
        <p:spPr>
          <a:xfrm xmlns:a="http://schemas.openxmlformats.org/drawingml/2006/main">
            <a:off x="8477250" y="4914900"/>
            <a:ext cx="2171700" cy="1714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825" b="1">
                <a:solidFill>
                  <a:srgbClr val="64748B"/>
                </a:solidFill>
                <a:latin typeface="Arial"/>
                <a:ea typeface="Arial"/>
                <a:cs typeface="Arial"/>
              </a:defRPr>
            </a:pPr>
            <a:r>
              <a:rPr sz="825" b="1">
                <a:solidFill>
                  <a:srgbClr val="64748B"/>
                </a:solidFill>
                <a:latin typeface="Arial"/>
                <a:ea typeface="Arial"/>
                <a:cs typeface="Arial"/>
              </a:rPr>
              <a:t>STRATEGY EXCESS SHARPE</a:t>
            </a:r>
          </a:p>
        </p:txBody>
      </p:sp>
      <p:sp>
        <p:nvSpPr>
          <p:cNvPr id="24" name="">
            <a:extLst xmlns:a="http://schemas.openxmlformats.org/drawingml/2006/main">
              <a:ext uri="{FF2B5EF4-FFF2-40B4-BE49-F238E27FC236}">
                <a16:creationId xmlns:a16="http://schemas.microsoft.com/office/drawing/2014/main" id="{376AD388-5A72-4954-A6B7-511718D8FA67}"/>
              </a:ext>
            </a:extLst>
          </p:cNvPr>
          <p:cNvSpPr>
            <a:spLocks xmlns:a="http://schemas.openxmlformats.org/drawingml/2006/main" noGrp="1"/>
          </p:cNvSpPr>
          <p:nvPr/>
        </p:nvSpPr>
        <p:spPr>
          <a:xfrm xmlns:a="http://schemas.openxmlformats.org/drawingml/2006/main">
            <a:off x="8477250" y="5162550"/>
            <a:ext cx="2171700" cy="3810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2250" b="1">
                <a:solidFill>
                  <a:srgbClr val="0F766E"/>
                </a:solidFill>
                <a:latin typeface="Arial"/>
                <a:ea typeface="Arial"/>
                <a:cs typeface="Arial"/>
              </a:defRPr>
            </a:pPr>
            <a:r>
              <a:rPr sz="2250" b="1">
                <a:solidFill>
                  <a:srgbClr val="0F766E"/>
                </a:solidFill>
                <a:latin typeface="Arial"/>
                <a:ea typeface="Arial"/>
                <a:cs typeface="Arial"/>
              </a:rPr>
              <a:t>0.81</a:t>
            </a:r>
          </a:p>
        </p:txBody>
      </p:sp>
      <p:sp>
        <p:nvSpPr>
          <p:cNvPr id="25" name="">
            <a:extLst xmlns:a="http://schemas.openxmlformats.org/drawingml/2006/main">
              <a:ext uri="{FF2B5EF4-FFF2-40B4-BE49-F238E27FC236}">
                <a16:creationId xmlns:a16="http://schemas.microsoft.com/office/drawing/2014/main" id="{AB4A5EF5-2641-4982-AB96-7A29E89F57AD}"/>
              </a:ext>
            </a:extLst>
          </p:cNvPr>
          <p:cNvSpPr>
            <a:spLocks xmlns:a="http://schemas.openxmlformats.org/drawingml/2006/main" noGrp="1"/>
          </p:cNvSpPr>
          <p:nvPr/>
        </p:nvSpPr>
        <p:spPr>
          <a:xfrm xmlns:a="http://schemas.openxmlformats.org/drawingml/2006/main">
            <a:off x="457200" y="6496050"/>
            <a:ext cx="8382000" cy="2095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750" b="0">
                <a:solidFill>
                  <a:srgbClr val="64748B"/>
                </a:solidFill>
                <a:latin typeface="Arial"/>
                <a:ea typeface="Arial"/>
                <a:cs typeface="Arial"/>
              </a:defRPr>
            </a:pPr>
            <a:r>
              <a:rPr sz="750" b="0">
                <a:solidFill>
                  <a:srgbClr val="64748B"/>
                </a:solidFill>
                <a:latin typeface="Arial"/>
                <a:ea typeface="Arial"/>
                <a:cs typeface="Arial"/>
              </a:rPr>
              <a:t>Source: local replication of Atilgan, Bali, and Demirtas (2015) signal on OptionDataNM2026.csv</a:t>
            </a:r>
          </a:p>
        </p:txBody>
      </p:sp>
      <p:sp>
        <p:nvSpPr>
          <p:cNvPr id="26" name="">
            <a:extLst xmlns:a="http://schemas.openxmlformats.org/drawingml/2006/main">
              <a:ext uri="{FF2B5EF4-FFF2-40B4-BE49-F238E27FC236}">
                <a16:creationId xmlns:a16="http://schemas.microsoft.com/office/drawing/2014/main" id="{CC736664-7B04-4567-8B07-6FC62DAE6974}"/>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sz="750" b="0">
                <a:solidFill>
                  <a:srgbClr val="64748B"/>
                </a:solidFill>
                <a:latin typeface="Arial"/>
                <a:ea typeface="Arial"/>
                <a:cs typeface="Arial"/>
              </a:defRPr>
            </a:pPr>
            <a:r>
              <a:rPr sz="750" b="0">
                <a:solidFill>
                  <a:srgbClr val="64748B"/>
                </a:solidFill>
                <a:latin typeface="Arial"/>
                <a:ea typeface="Arial"/>
                <a:cs typeface="Arial"/>
              </a:rPr>
              <a:t>5</a:t>
            </a:r>
          </a:p>
        </p:txBody>
      </p:sp>
    </p:spTree>
    <p:extLst>
      <p:ext uri="{BB962C8B-B14F-4D97-AF65-F5344CB8AC3E}">
        <p14:creationId xmlns:p14="http://schemas.microsoft.com/office/powerpoint/2010/main" val="88249096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EF17FC2-51D8-408F-A0F6-BA6166AFED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ln>
        </p:spPr>
      </p:sp>
      <p:sp>
        <p:nvSpPr>
          <p:cNvPr id="2" name="">
            <a:extLst xmlns:a="http://schemas.openxmlformats.org/drawingml/2006/main">
              <a:ext uri="{FF2B5EF4-FFF2-40B4-BE49-F238E27FC236}">
                <a16:creationId xmlns:a16="http://schemas.microsoft.com/office/drawing/2014/main" id="{4EB63BDB-9345-4B42-A24E-48CCC7D96096}"/>
              </a:ext>
            </a:extLst>
          </p:cNvPr>
          <p:cNvSpPr>
            <a:spLocks xmlns:a="http://schemas.openxmlformats.org/drawingml/2006/main" noGrp="1"/>
          </p:cNvSpPr>
          <p:nvPr/>
        </p:nvSpPr>
        <p:spPr>
          <a:xfrm xmlns:a="http://schemas.openxmlformats.org/drawingml/2006/main">
            <a:off x="514350" y="323850"/>
            <a:ext cx="3048000" cy="26670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38100" rIns="0" bIns="0">
            <a:normAutofit fontScale="100000"/>
          </a:bodyPr>
          <a:lstStyle xmlns:a="http://schemas.openxmlformats.org/drawingml/2006/main"/>
          <a:p xmlns:a="http://schemas.openxmlformats.org/drawingml/2006/main">
            <a:pPr algn="l">
              <a:defRPr sz="975" b="1">
                <a:solidFill>
                  <a:srgbClr val="C2410C"/>
                </a:solidFill>
                <a:latin typeface="Arial"/>
                <a:ea typeface="Arial"/>
                <a:cs typeface="Arial"/>
              </a:defRPr>
            </a:pPr>
            <a:r>
              <a:rPr sz="975" b="1">
                <a:solidFill>
                  <a:srgbClr val="C2410C"/>
                </a:solidFill>
                <a:latin typeface="Arial"/>
                <a:ea typeface="Arial"/>
                <a:cs typeface="Arial"/>
              </a:rPr>
              <a:t>EXECUTABILITY</a:t>
            </a:r>
          </a:p>
        </p:txBody>
      </p:sp>
      <p:sp>
        <p:nvSpPr>
          <p:cNvPr id="3" name="">
            <a:extLst xmlns:a="http://schemas.openxmlformats.org/drawingml/2006/main">
              <a:ext uri="{FF2B5EF4-FFF2-40B4-BE49-F238E27FC236}">
                <a16:creationId xmlns:a16="http://schemas.microsoft.com/office/drawing/2014/main" id="{2250C4F5-971F-4369-BBC7-B91B5E76F181}"/>
              </a:ext>
            </a:extLst>
          </p:cNvPr>
          <p:cNvSpPr>
            <a:spLocks xmlns:a="http://schemas.openxmlformats.org/drawingml/2006/main" noGrp="1"/>
          </p:cNvSpPr>
          <p:nvPr/>
        </p:nvSpPr>
        <p:spPr>
          <a:xfrm xmlns:a="http://schemas.openxmlformats.org/drawingml/2006/main">
            <a:off x="457200" y="628650"/>
            <a:ext cx="8858250" cy="91440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3000" b="1">
                <a:solidFill>
                  <a:srgbClr val="172033"/>
                </a:solidFill>
                <a:latin typeface="Arial"/>
                <a:ea typeface="Arial"/>
                <a:cs typeface="Arial"/>
              </a:defRPr>
            </a:pPr>
            <a:r>
              <a:rPr sz="3000" b="1">
                <a:solidFill>
                  <a:srgbClr val="172033"/>
                </a:solidFill>
                <a:latin typeface="Arial"/>
                <a:ea typeface="Arial"/>
                <a:cs typeface="Arial"/>
              </a:rPr>
              <a:t>For trading, the practical question is whether the signal survives implementation.</a:t>
            </a:r>
          </a:p>
        </p:txBody>
      </p:sp>
      <p:sp>
        <p:nvSpPr>
          <p:cNvPr id="4" name="">
            <a:extLst xmlns:a="http://schemas.openxmlformats.org/drawingml/2006/main">
              <a:ext uri="{FF2B5EF4-FFF2-40B4-BE49-F238E27FC236}">
                <a16:creationId xmlns:a16="http://schemas.microsoft.com/office/drawing/2014/main" id="{63CC66F2-9FEC-418E-B8E6-ABBB28D0EA7A}"/>
              </a:ext>
            </a:extLst>
          </p:cNvPr>
          <p:cNvSpPr>
            <a:spLocks xmlns:a="http://schemas.openxmlformats.org/drawingml/2006/main" noGrp="1"/>
          </p:cNvSpPr>
          <p:nvPr/>
        </p:nvSpPr>
        <p:spPr>
          <a:xfrm xmlns:a="http://schemas.openxmlformats.org/drawingml/2006/main">
            <a:off x="666750" y="2057400"/>
            <a:ext cx="6096000" cy="306705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5" name="">
            <a:extLst xmlns:a="http://schemas.openxmlformats.org/drawingml/2006/main">
              <a:ext uri="{FF2B5EF4-FFF2-40B4-BE49-F238E27FC236}">
                <a16:creationId xmlns:a16="http://schemas.microsoft.com/office/drawing/2014/main" id="{5D817E67-7A21-4B98-951F-B81D9E3ACED2}"/>
              </a:ext>
            </a:extLst>
          </p:cNvPr>
          <p:cNvSpPr>
            <a:spLocks xmlns:a="http://schemas.openxmlformats.org/drawingml/2006/main" noGrp="1"/>
          </p:cNvSpPr>
          <p:nvPr/>
        </p:nvSpPr>
        <p:spPr>
          <a:xfrm xmlns:a="http://schemas.openxmlformats.org/drawingml/2006/main">
            <a:off x="933450" y="2266950"/>
            <a:ext cx="3143250" cy="2667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55555"/>
          </a:bodyPr>
          <a:lstStyle xmlns:a="http://schemas.openxmlformats.org/drawingml/2006/main"/>
          <a:p xmlns:a="http://schemas.openxmlformats.org/drawingml/2006/main">
            <a:pPr algn="l">
              <a:defRPr sz="1350" b="1">
                <a:solidFill>
                  <a:srgbClr val="172033"/>
                </a:solidFill>
                <a:latin typeface="Arial"/>
                <a:ea typeface="Arial"/>
                <a:cs typeface="Arial"/>
              </a:defRPr>
            </a:pPr>
            <a:r>
              <a:rPr sz="1350" b="1">
                <a:solidFill>
                  <a:srgbClr val="172033"/>
                </a:solidFill>
                <a:latin typeface="Arial"/>
                <a:ea typeface="Arial"/>
                <a:cs typeface="Arial"/>
              </a:rPr>
              <a:t>Cash threshold sensitivity</a:t>
            </a:r>
          </a:p>
        </p:txBody>
      </p:sp>
      <p:sp>
        <p:nvSpPr>
          <p:cNvPr id="6" name="">
            <a:extLst xmlns:a="http://schemas.openxmlformats.org/drawingml/2006/main">
              <a:ext uri="{FF2B5EF4-FFF2-40B4-BE49-F238E27FC236}">
                <a16:creationId xmlns:a16="http://schemas.microsoft.com/office/drawing/2014/main" id="{A3A93516-E534-4589-B94F-5C514D2FA610}"/>
              </a:ext>
            </a:extLst>
          </p:cNvPr>
          <p:cNvSpPr>
            <a:spLocks xmlns:a="http://schemas.openxmlformats.org/drawingml/2006/main" noGrp="1"/>
          </p:cNvSpPr>
          <p:nvPr/>
        </p:nvSpPr>
        <p:spPr>
          <a:xfrm xmlns:a="http://schemas.openxmlformats.org/drawingml/2006/main">
            <a:off x="1190625" y="3257753"/>
            <a:ext cx="685800" cy="1371397"/>
          </a:xfrm>
          <a:prstGeom xmlns:a="http://schemas.openxmlformats.org/drawingml/2006/main" prst="rect">
            <a:avLst/>
          </a:prstGeom>
          <a:solidFill xmlns:a="http://schemas.openxmlformats.org/drawingml/2006/main">
            <a:srgbClr val="0F766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0C76362-D822-47CE-972B-FA109D59E4CC}"/>
              </a:ext>
            </a:extLst>
          </p:cNvPr>
          <p:cNvSpPr>
            <a:spLocks xmlns:a="http://schemas.openxmlformats.org/drawingml/2006/main" noGrp="1"/>
          </p:cNvSpPr>
          <p:nvPr/>
        </p:nvSpPr>
        <p:spPr>
          <a:xfrm xmlns:a="http://schemas.openxmlformats.org/drawingml/2006/main">
            <a:off x="1095375" y="2991053"/>
            <a:ext cx="87630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ctr">
              <a:defRPr sz="1125" b="1">
                <a:solidFill>
                  <a:srgbClr val="172033"/>
                </a:solidFill>
                <a:latin typeface="Arial"/>
                <a:ea typeface="Arial"/>
                <a:cs typeface="Arial"/>
              </a:defRPr>
            </a:pPr>
            <a:r>
              <a:rPr sz="1125" b="1">
                <a:solidFill>
                  <a:srgbClr val="172033"/>
                </a:solidFill>
                <a:latin typeface="Arial"/>
                <a:ea typeface="Arial"/>
                <a:cs typeface="Arial"/>
              </a:rPr>
              <a:t>$139</a:t>
            </a:r>
          </a:p>
        </p:txBody>
      </p:sp>
      <p:sp>
        <p:nvSpPr>
          <p:cNvPr id="8" name="">
            <a:extLst xmlns:a="http://schemas.openxmlformats.org/drawingml/2006/main">
              <a:ext uri="{FF2B5EF4-FFF2-40B4-BE49-F238E27FC236}">
                <a16:creationId xmlns:a16="http://schemas.microsoft.com/office/drawing/2014/main" id="{E2F68483-5E39-45BA-AC8C-28253E0582C2}"/>
              </a:ext>
            </a:extLst>
          </p:cNvPr>
          <p:cNvSpPr>
            <a:spLocks xmlns:a="http://schemas.openxmlformats.org/drawingml/2006/main" noGrp="1"/>
          </p:cNvSpPr>
          <p:nvPr/>
        </p:nvSpPr>
        <p:spPr>
          <a:xfrm xmlns:a="http://schemas.openxmlformats.org/drawingml/2006/main">
            <a:off x="1095375" y="4743450"/>
            <a:ext cx="87630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7619"/>
          </a:bodyPr>
          <a:lstStyle xmlns:a="http://schemas.openxmlformats.org/drawingml/2006/main"/>
          <a:p xmlns:a="http://schemas.openxmlformats.org/drawingml/2006/main">
            <a:pPr algn="ctr">
              <a:defRPr sz="1050" b="0">
                <a:solidFill>
                  <a:srgbClr val="64748B"/>
                </a:solidFill>
                <a:latin typeface="Arial"/>
                <a:ea typeface="Arial"/>
                <a:cs typeface="Arial"/>
              </a:defRPr>
            </a:pPr>
            <a:r>
              <a:rPr sz="1050" b="0">
                <a:solidFill>
                  <a:srgbClr val="64748B"/>
                </a:solidFill>
                <a:latin typeface="Arial"/>
                <a:ea typeface="Arial"/>
                <a:cs typeface="Arial"/>
              </a:rPr>
              <a:t>0bp</a:t>
            </a:r>
          </a:p>
        </p:txBody>
      </p:sp>
      <p:sp>
        <p:nvSpPr>
          <p:cNvPr id="9" name="">
            <a:extLst xmlns:a="http://schemas.openxmlformats.org/drawingml/2006/main">
              <a:ext uri="{FF2B5EF4-FFF2-40B4-BE49-F238E27FC236}">
                <a16:creationId xmlns:a16="http://schemas.microsoft.com/office/drawing/2014/main" id="{C4BCDDCF-8B82-42EB-93A7-A29C1800A216}"/>
              </a:ext>
            </a:extLst>
          </p:cNvPr>
          <p:cNvSpPr>
            <a:spLocks xmlns:a="http://schemas.openxmlformats.org/drawingml/2006/main" noGrp="1"/>
          </p:cNvSpPr>
          <p:nvPr/>
        </p:nvSpPr>
        <p:spPr>
          <a:xfrm xmlns:a="http://schemas.openxmlformats.org/drawingml/2006/main">
            <a:off x="2447925" y="3179626"/>
            <a:ext cx="685800" cy="1449524"/>
          </a:xfrm>
          <a:prstGeom xmlns:a="http://schemas.openxmlformats.org/drawingml/2006/main" prst="rect">
            <a:avLst/>
          </a:prstGeom>
          <a:solidFill xmlns:a="http://schemas.openxmlformats.org/drawingml/2006/main">
            <a:srgbClr val="1D4ED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64A2937-B0F9-4B1F-9DA4-3F0335F84AE3}"/>
              </a:ext>
            </a:extLst>
          </p:cNvPr>
          <p:cNvSpPr>
            <a:spLocks xmlns:a="http://schemas.openxmlformats.org/drawingml/2006/main" noGrp="1"/>
          </p:cNvSpPr>
          <p:nvPr/>
        </p:nvSpPr>
        <p:spPr>
          <a:xfrm xmlns:a="http://schemas.openxmlformats.org/drawingml/2006/main">
            <a:off x="2352675" y="2912926"/>
            <a:ext cx="87630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ctr">
              <a:defRPr sz="1125" b="1">
                <a:solidFill>
                  <a:srgbClr val="172033"/>
                </a:solidFill>
                <a:latin typeface="Arial"/>
                <a:ea typeface="Arial"/>
                <a:cs typeface="Arial"/>
              </a:defRPr>
            </a:pPr>
            <a:r>
              <a:rPr sz="1125" b="1">
                <a:solidFill>
                  <a:srgbClr val="172033"/>
                </a:solidFill>
                <a:latin typeface="Arial"/>
                <a:ea typeface="Arial"/>
                <a:cs typeface="Arial"/>
              </a:rPr>
              <a:t>$147</a:t>
            </a:r>
          </a:p>
        </p:txBody>
      </p:sp>
      <p:sp>
        <p:nvSpPr>
          <p:cNvPr id="11" name="">
            <a:extLst xmlns:a="http://schemas.openxmlformats.org/drawingml/2006/main">
              <a:ext uri="{FF2B5EF4-FFF2-40B4-BE49-F238E27FC236}">
                <a16:creationId xmlns:a16="http://schemas.microsoft.com/office/drawing/2014/main" id="{FBD27B3F-219A-49BB-A07E-0A0AE5BC49D0}"/>
              </a:ext>
            </a:extLst>
          </p:cNvPr>
          <p:cNvSpPr>
            <a:spLocks xmlns:a="http://schemas.openxmlformats.org/drawingml/2006/main" noGrp="1"/>
          </p:cNvSpPr>
          <p:nvPr/>
        </p:nvSpPr>
        <p:spPr>
          <a:xfrm xmlns:a="http://schemas.openxmlformats.org/drawingml/2006/main">
            <a:off x="2352675" y="4743450"/>
            <a:ext cx="87630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7619"/>
          </a:bodyPr>
          <a:lstStyle xmlns:a="http://schemas.openxmlformats.org/drawingml/2006/main"/>
          <a:p xmlns:a="http://schemas.openxmlformats.org/drawingml/2006/main">
            <a:pPr algn="ctr">
              <a:defRPr sz="1050" b="0">
                <a:solidFill>
                  <a:srgbClr val="64748B"/>
                </a:solidFill>
                <a:latin typeface="Arial"/>
                <a:ea typeface="Arial"/>
                <a:cs typeface="Arial"/>
              </a:defRPr>
            </a:pPr>
            <a:r>
              <a:rPr sz="1050" b="0">
                <a:solidFill>
                  <a:srgbClr val="64748B"/>
                </a:solidFill>
                <a:latin typeface="Arial"/>
                <a:ea typeface="Arial"/>
                <a:cs typeface="Arial"/>
              </a:rPr>
              <a:t>10bp</a:t>
            </a:r>
          </a:p>
        </p:txBody>
      </p:sp>
      <p:sp>
        <p:nvSpPr>
          <p:cNvPr id="12" name="">
            <a:extLst xmlns:a="http://schemas.openxmlformats.org/drawingml/2006/main">
              <a:ext uri="{FF2B5EF4-FFF2-40B4-BE49-F238E27FC236}">
                <a16:creationId xmlns:a16="http://schemas.microsoft.com/office/drawing/2014/main" id="{3BA50989-063A-41EE-8609-A78A97D8A6AE}"/>
              </a:ext>
            </a:extLst>
          </p:cNvPr>
          <p:cNvSpPr>
            <a:spLocks xmlns:a="http://schemas.openxmlformats.org/drawingml/2006/main" noGrp="1"/>
          </p:cNvSpPr>
          <p:nvPr/>
        </p:nvSpPr>
        <p:spPr>
          <a:xfrm xmlns:a="http://schemas.openxmlformats.org/drawingml/2006/main">
            <a:off x="3705225" y="2986618"/>
            <a:ext cx="685800" cy="1642532"/>
          </a:xfrm>
          <a:prstGeom xmlns:a="http://schemas.openxmlformats.org/drawingml/2006/main" prst="rect">
            <a:avLst/>
          </a:prstGeom>
          <a:solidFill xmlns:a="http://schemas.openxmlformats.org/drawingml/2006/main">
            <a:srgbClr val="6D28D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8086A93-F4A2-458E-92D8-C489118442A5}"/>
              </a:ext>
            </a:extLst>
          </p:cNvPr>
          <p:cNvSpPr>
            <a:spLocks xmlns:a="http://schemas.openxmlformats.org/drawingml/2006/main" noGrp="1"/>
          </p:cNvSpPr>
          <p:nvPr/>
        </p:nvSpPr>
        <p:spPr>
          <a:xfrm xmlns:a="http://schemas.openxmlformats.org/drawingml/2006/main">
            <a:off x="3609975" y="2719918"/>
            <a:ext cx="87630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ctr">
              <a:defRPr sz="1125" b="1">
                <a:solidFill>
                  <a:srgbClr val="172033"/>
                </a:solidFill>
                <a:latin typeface="Arial"/>
                <a:ea typeface="Arial"/>
                <a:cs typeface="Arial"/>
              </a:defRPr>
            </a:pPr>
            <a:r>
              <a:rPr sz="1125" b="1">
                <a:solidFill>
                  <a:srgbClr val="172033"/>
                </a:solidFill>
                <a:latin typeface="Arial"/>
                <a:ea typeface="Arial"/>
                <a:cs typeface="Arial"/>
              </a:rPr>
              <a:t>$167</a:t>
            </a:r>
          </a:p>
        </p:txBody>
      </p:sp>
      <p:sp>
        <p:nvSpPr>
          <p:cNvPr id="14" name="">
            <a:extLst xmlns:a="http://schemas.openxmlformats.org/drawingml/2006/main">
              <a:ext uri="{FF2B5EF4-FFF2-40B4-BE49-F238E27FC236}">
                <a16:creationId xmlns:a16="http://schemas.microsoft.com/office/drawing/2014/main" id="{863EACC9-FC4A-4EC4-9350-F486332838D6}"/>
              </a:ext>
            </a:extLst>
          </p:cNvPr>
          <p:cNvSpPr>
            <a:spLocks xmlns:a="http://schemas.openxmlformats.org/drawingml/2006/main" noGrp="1"/>
          </p:cNvSpPr>
          <p:nvPr/>
        </p:nvSpPr>
        <p:spPr>
          <a:xfrm xmlns:a="http://schemas.openxmlformats.org/drawingml/2006/main">
            <a:off x="3609975" y="4743450"/>
            <a:ext cx="87630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7619"/>
          </a:bodyPr>
          <a:lstStyle xmlns:a="http://schemas.openxmlformats.org/drawingml/2006/main"/>
          <a:p xmlns:a="http://schemas.openxmlformats.org/drawingml/2006/main">
            <a:pPr algn="ctr">
              <a:defRPr sz="1050" b="0">
                <a:solidFill>
                  <a:srgbClr val="64748B"/>
                </a:solidFill>
                <a:latin typeface="Arial"/>
                <a:ea typeface="Arial"/>
                <a:cs typeface="Arial"/>
              </a:defRPr>
            </a:pPr>
            <a:r>
              <a:rPr sz="1050" b="0">
                <a:solidFill>
                  <a:srgbClr val="64748B"/>
                </a:solidFill>
                <a:latin typeface="Arial"/>
                <a:ea typeface="Arial"/>
                <a:cs typeface="Arial"/>
              </a:rPr>
              <a:t>15bp</a:t>
            </a:r>
          </a:p>
        </p:txBody>
      </p:sp>
      <p:sp>
        <p:nvSpPr>
          <p:cNvPr id="15" name="">
            <a:extLst xmlns:a="http://schemas.openxmlformats.org/drawingml/2006/main">
              <a:ext uri="{FF2B5EF4-FFF2-40B4-BE49-F238E27FC236}">
                <a16:creationId xmlns:a16="http://schemas.microsoft.com/office/drawing/2014/main" id="{11BC6F6F-E2D2-48B2-84EF-0387A20AB559}"/>
              </a:ext>
            </a:extLst>
          </p:cNvPr>
          <p:cNvSpPr>
            <a:spLocks xmlns:a="http://schemas.openxmlformats.org/drawingml/2006/main" noGrp="1"/>
          </p:cNvSpPr>
          <p:nvPr/>
        </p:nvSpPr>
        <p:spPr>
          <a:xfrm xmlns:a="http://schemas.openxmlformats.org/drawingml/2006/main">
            <a:off x="4962525" y="2812344"/>
            <a:ext cx="685800" cy="1816806"/>
          </a:xfrm>
          <a:prstGeom xmlns:a="http://schemas.openxmlformats.org/drawingml/2006/main" prst="rect">
            <a:avLst/>
          </a:prstGeom>
          <a:solidFill xmlns:a="http://schemas.openxmlformats.org/drawingml/2006/main">
            <a:srgbClr val="C2410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0E58692-4C0E-4516-A95B-2F7ECB422F14}"/>
              </a:ext>
            </a:extLst>
          </p:cNvPr>
          <p:cNvSpPr>
            <a:spLocks xmlns:a="http://schemas.openxmlformats.org/drawingml/2006/main" noGrp="1"/>
          </p:cNvSpPr>
          <p:nvPr/>
        </p:nvSpPr>
        <p:spPr>
          <a:xfrm xmlns:a="http://schemas.openxmlformats.org/drawingml/2006/main">
            <a:off x="4867275" y="2545644"/>
            <a:ext cx="87630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4444"/>
          </a:bodyPr>
          <a:lstStyle xmlns:a="http://schemas.openxmlformats.org/drawingml/2006/main"/>
          <a:p xmlns:a="http://schemas.openxmlformats.org/drawingml/2006/main">
            <a:pPr algn="ctr">
              <a:defRPr sz="1125" b="1">
                <a:solidFill>
                  <a:srgbClr val="172033"/>
                </a:solidFill>
                <a:latin typeface="Arial"/>
                <a:ea typeface="Arial"/>
                <a:cs typeface="Arial"/>
              </a:defRPr>
            </a:pPr>
            <a:r>
              <a:rPr sz="1125" b="1">
                <a:solidFill>
                  <a:srgbClr val="172033"/>
                </a:solidFill>
                <a:latin typeface="Arial"/>
                <a:ea typeface="Arial"/>
                <a:cs typeface="Arial"/>
              </a:rPr>
              <a:t>$184</a:t>
            </a:r>
          </a:p>
        </p:txBody>
      </p:sp>
      <p:sp>
        <p:nvSpPr>
          <p:cNvPr id="17" name="">
            <a:extLst xmlns:a="http://schemas.openxmlformats.org/drawingml/2006/main">
              <a:ext uri="{FF2B5EF4-FFF2-40B4-BE49-F238E27FC236}">
                <a16:creationId xmlns:a16="http://schemas.microsoft.com/office/drawing/2014/main" id="{C87CAFDB-1806-4872-9F1E-1CFBEC8D6AE2}"/>
              </a:ext>
            </a:extLst>
          </p:cNvPr>
          <p:cNvSpPr>
            <a:spLocks xmlns:a="http://schemas.openxmlformats.org/drawingml/2006/main" noGrp="1"/>
          </p:cNvSpPr>
          <p:nvPr/>
        </p:nvSpPr>
        <p:spPr>
          <a:xfrm xmlns:a="http://schemas.openxmlformats.org/drawingml/2006/main">
            <a:off x="4867275" y="4743450"/>
            <a:ext cx="876300" cy="2286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47619"/>
          </a:bodyPr>
          <a:lstStyle xmlns:a="http://schemas.openxmlformats.org/drawingml/2006/main"/>
          <a:p xmlns:a="http://schemas.openxmlformats.org/drawingml/2006/main">
            <a:pPr algn="ctr">
              <a:defRPr sz="1050" b="0">
                <a:solidFill>
                  <a:srgbClr val="64748B"/>
                </a:solidFill>
                <a:latin typeface="Arial"/>
                <a:ea typeface="Arial"/>
                <a:cs typeface="Arial"/>
              </a:defRPr>
            </a:pPr>
            <a:r>
              <a:rPr sz="1050" b="0">
                <a:solidFill>
                  <a:srgbClr val="64748B"/>
                </a:solidFill>
                <a:latin typeface="Arial"/>
                <a:ea typeface="Arial"/>
                <a:cs typeface="Arial"/>
              </a:rPr>
              <a:t>25bp</a:t>
            </a:r>
          </a:p>
        </p:txBody>
      </p:sp>
      <p:sp>
        <p:nvSpPr>
          <p:cNvPr id="18" name="">
            <a:extLst xmlns:a="http://schemas.openxmlformats.org/drawingml/2006/main">
              <a:ext uri="{FF2B5EF4-FFF2-40B4-BE49-F238E27FC236}">
                <a16:creationId xmlns:a16="http://schemas.microsoft.com/office/drawing/2014/main" id="{0CDC7577-AC9D-4D58-930B-51B61709A51E}"/>
              </a:ext>
            </a:extLst>
          </p:cNvPr>
          <p:cNvSpPr>
            <a:spLocks xmlns:a="http://schemas.openxmlformats.org/drawingml/2006/main" noGrp="1"/>
          </p:cNvSpPr>
          <p:nvPr/>
        </p:nvSpPr>
        <p:spPr>
          <a:xfrm xmlns:a="http://schemas.openxmlformats.org/drawingml/2006/main">
            <a:off x="7486650" y="2133600"/>
            <a:ext cx="3429000" cy="1047750"/>
          </a:xfrm>
          <a:prstGeom xmlns:a="http://schemas.openxmlformats.org/drawingml/2006/main" prst="rect">
            <a:avLst/>
          </a:prstGeom>
          <a:solidFill xmlns:a="http://schemas.openxmlformats.org/drawingml/2006/main">
            <a:srgbClr val="F8FAFC"/>
          </a:solidFill>
          <a:ln xmlns:a="http://schemas.openxmlformats.org/drawingml/2006/main" w="9525">
            <a:solidFill>
              <a:srgbClr val="D9D5C8"/>
            </a:solidFill>
          </a:ln>
        </p:spPr>
      </p:sp>
      <p:sp>
        <p:nvSpPr>
          <p:cNvPr id="19" name="">
            <a:extLst xmlns:a="http://schemas.openxmlformats.org/drawingml/2006/main">
              <a:ext uri="{FF2B5EF4-FFF2-40B4-BE49-F238E27FC236}">
                <a16:creationId xmlns:a16="http://schemas.microsoft.com/office/drawing/2014/main" id="{8EFEC0DE-D8B7-4FAA-80EE-144E8AAF9C32}"/>
              </a:ext>
            </a:extLst>
          </p:cNvPr>
          <p:cNvSpPr>
            <a:spLocks xmlns:a="http://schemas.openxmlformats.org/drawingml/2006/main" noGrp="1"/>
          </p:cNvSpPr>
          <p:nvPr/>
        </p:nvSpPr>
        <p:spPr>
          <a:xfrm xmlns:a="http://schemas.openxmlformats.org/drawingml/2006/main">
            <a:off x="7734300" y="2324100"/>
            <a:ext cx="2933700" cy="285750"/>
          </a:xfrm>
          <a:prstGeom xmlns:a="http://schemas.openxmlformats.org/drawingml/2006/main" prst="rect">
            <a:avLst/>
          </a:prstGeom>
          <a:solidFill xmlns:a="http://schemas.openxmlformats.org/drawingml/2006/main">
            <a:srgbClr val="F8FAFC"/>
          </a:solidFill>
          <a:ln xmlns:a="http://schemas.openxmlformats.org/drawingml/2006/main" w="0">
            <a:noFill/>
          </a:ln>
        </p:spPr>
        <p:txBody>
          <a:bodyPr xmlns:a="http://schemas.openxmlformats.org/drawingml/2006/main" wrap="square" lIns="76200" tIns="76200" rIns="76200" bIns="76200">
            <a:normAutofit fontScale="53030"/>
          </a:bodyPr>
          <a:lstStyle xmlns:a="http://schemas.openxmlformats.org/drawingml/2006/main"/>
          <a:p xmlns:a="http://schemas.openxmlformats.org/drawingml/2006/main">
            <a:pPr algn="l">
              <a:defRPr sz="1650" b="1">
                <a:solidFill>
                  <a:srgbClr val="172033"/>
                </a:solidFill>
                <a:latin typeface="Arial"/>
                <a:ea typeface="Arial"/>
                <a:cs typeface="Arial"/>
              </a:defRPr>
            </a:pPr>
            <a:r>
              <a:rPr sz="1650" b="1">
                <a:solidFill>
                  <a:srgbClr val="172033"/>
                </a:solidFill>
                <a:latin typeface="Arial"/>
                <a:ea typeface="Arial"/>
                <a:cs typeface="Arial"/>
              </a:rPr>
              <a:t>Statistical significance helps avoid noise.</a:t>
            </a:r>
          </a:p>
        </p:txBody>
      </p:sp>
      <p:sp>
        <p:nvSpPr>
          <p:cNvPr id="20" name="">
            <a:extLst xmlns:a="http://schemas.openxmlformats.org/drawingml/2006/main">
              <a:ext uri="{FF2B5EF4-FFF2-40B4-BE49-F238E27FC236}">
                <a16:creationId xmlns:a16="http://schemas.microsoft.com/office/drawing/2014/main" id="{D78A0136-B118-4486-AB8A-CE73FAF3180E}"/>
              </a:ext>
            </a:extLst>
          </p:cNvPr>
          <p:cNvSpPr>
            <a:spLocks xmlns:a="http://schemas.openxmlformats.org/drawingml/2006/main" noGrp="1"/>
          </p:cNvSpPr>
          <p:nvPr/>
        </p:nvSpPr>
        <p:spPr>
          <a:xfrm xmlns:a="http://schemas.openxmlformats.org/drawingml/2006/main">
            <a:off x="7734300" y="2705100"/>
            <a:ext cx="2857500" cy="323850"/>
          </a:xfrm>
          <a:prstGeom xmlns:a="http://schemas.openxmlformats.org/drawingml/2006/main" prst="rect">
            <a:avLst/>
          </a:prstGeom>
          <a:solidFill xmlns:a="http://schemas.openxmlformats.org/drawingml/2006/main">
            <a:srgbClr val="F8FAFC"/>
          </a:solidFill>
          <a:ln xmlns:a="http://schemas.openxmlformats.org/drawingml/2006/main" w="0">
            <a:noFill/>
          </a:ln>
        </p:spPr>
        <p:txBody>
          <a:bodyPr xmlns:a="http://schemas.openxmlformats.org/drawingml/2006/main" wrap="square" lIns="76200" tIns="76200" rIns="76200" bIns="76200">
            <a:normAutofit fontScale="44118"/>
          </a:bodyPr>
          <a:lstStyle xmlns:a="http://schemas.openxmlformats.org/drawingml/2006/main"/>
          <a:p xmlns:a="http://schemas.openxmlformats.org/drawingml/2006/main">
            <a:pPr algn="l">
              <a:defRPr sz="1275" b="0">
                <a:solidFill>
                  <a:srgbClr val="334155"/>
                </a:solidFill>
                <a:latin typeface="Arial"/>
                <a:ea typeface="Arial"/>
                <a:cs typeface="Arial"/>
              </a:defRPr>
            </a:pPr>
            <a:r>
              <a:rPr sz="1275" b="0">
                <a:solidFill>
                  <a:srgbClr val="334155"/>
                </a:solidFill>
                <a:latin typeface="Arial"/>
                <a:ea typeface="Arial"/>
                <a:cs typeface="Arial"/>
              </a:rPr>
              <a:t>But trading significance also needs costs, turnover, drawdowns, liquidity, and robustness.</a:t>
            </a:r>
          </a:p>
        </p:txBody>
      </p:sp>
      <p:sp>
        <p:nvSpPr>
          <p:cNvPr id="21" name="">
            <a:extLst xmlns:a="http://schemas.openxmlformats.org/drawingml/2006/main">
              <a:ext uri="{FF2B5EF4-FFF2-40B4-BE49-F238E27FC236}">
                <a16:creationId xmlns:a16="http://schemas.microsoft.com/office/drawing/2014/main" id="{E6830D27-0A72-4F5A-BEAD-D5F2B143FE1B}"/>
              </a:ext>
            </a:extLst>
          </p:cNvPr>
          <p:cNvSpPr>
            <a:spLocks xmlns:a="http://schemas.openxmlformats.org/drawingml/2006/main" noGrp="1"/>
          </p:cNvSpPr>
          <p:nvPr/>
        </p:nvSpPr>
        <p:spPr>
          <a:xfrm xmlns:a="http://schemas.openxmlformats.org/drawingml/2006/main">
            <a:off x="7486650" y="3524250"/>
            <a:ext cx="3429000" cy="1295400"/>
          </a:xfrm>
          <a:prstGeom xmlns:a="http://schemas.openxmlformats.org/drawingml/2006/main" prst="rect">
            <a:avLst/>
          </a:prstGeom>
          <a:solidFill xmlns:a="http://schemas.openxmlformats.org/drawingml/2006/main">
            <a:srgbClr val="FFF7ED"/>
          </a:solidFill>
          <a:ln xmlns:a="http://schemas.openxmlformats.org/drawingml/2006/main" w="9525">
            <a:solidFill>
              <a:srgbClr val="C2410C"/>
            </a:solidFill>
          </a:ln>
        </p:spPr>
      </p:sp>
      <p:sp>
        <p:nvSpPr>
          <p:cNvPr id="22" name="">
            <a:extLst xmlns:a="http://schemas.openxmlformats.org/drawingml/2006/main">
              <a:ext uri="{FF2B5EF4-FFF2-40B4-BE49-F238E27FC236}">
                <a16:creationId xmlns:a16="http://schemas.microsoft.com/office/drawing/2014/main" id="{AD6A6D46-F419-415D-92A2-01E917067EBA}"/>
              </a:ext>
            </a:extLst>
          </p:cNvPr>
          <p:cNvSpPr>
            <a:spLocks xmlns:a="http://schemas.openxmlformats.org/drawingml/2006/main" noGrp="1"/>
          </p:cNvSpPr>
          <p:nvPr/>
        </p:nvSpPr>
        <p:spPr>
          <a:xfrm xmlns:a="http://schemas.openxmlformats.org/drawingml/2006/main">
            <a:off x="7734300" y="3733800"/>
            <a:ext cx="2381250" cy="247650"/>
          </a:xfrm>
          <a:prstGeom xmlns:a="http://schemas.openxmlformats.org/drawingml/2006/main" prst="rect">
            <a:avLst/>
          </a:prstGeom>
          <a:solidFill xmlns:a="http://schemas.openxmlformats.org/drawingml/2006/main">
            <a:srgbClr val="FFF7ED"/>
          </a:solidFill>
          <a:ln xmlns:a="http://schemas.openxmlformats.org/drawingml/2006/main" w="0">
            <a:noFill/>
          </a:ln>
        </p:spPr>
        <p:txBody>
          <a:bodyPr xmlns:a="http://schemas.openxmlformats.org/drawingml/2006/main" wrap="square" lIns="76200" tIns="76200" rIns="76200" bIns="76200">
            <a:normAutofit fontScale="43860"/>
          </a:bodyPr>
          <a:lstStyle xmlns:a="http://schemas.openxmlformats.org/drawingml/2006/main"/>
          <a:p xmlns:a="http://schemas.openxmlformats.org/drawingml/2006/main">
            <a:pPr algn="l">
              <a:defRPr sz="1425" b="1">
                <a:solidFill>
                  <a:srgbClr val="C2410C"/>
                </a:solidFill>
                <a:latin typeface="Arial"/>
                <a:ea typeface="Arial"/>
                <a:cs typeface="Arial"/>
              </a:defRPr>
            </a:pPr>
            <a:r>
              <a:rPr sz="1425" b="1">
                <a:solidFill>
                  <a:srgbClr val="C2410C"/>
                </a:solidFill>
                <a:latin typeface="Arial"/>
                <a:ea typeface="Arial"/>
                <a:cs typeface="Arial"/>
              </a:rPr>
              <a:t>Important caveat</a:t>
            </a:r>
          </a:p>
        </p:txBody>
      </p:sp>
      <p:sp>
        <p:nvSpPr>
          <p:cNvPr id="23" name="">
            <a:extLst xmlns:a="http://schemas.openxmlformats.org/drawingml/2006/main">
              <a:ext uri="{FF2B5EF4-FFF2-40B4-BE49-F238E27FC236}">
                <a16:creationId xmlns:a16="http://schemas.microsoft.com/office/drawing/2014/main" id="{D12163AE-2AFC-4888-9B1A-A3CB77E35D43}"/>
              </a:ext>
            </a:extLst>
          </p:cNvPr>
          <p:cNvSpPr>
            <a:spLocks xmlns:a="http://schemas.openxmlformats.org/drawingml/2006/main" noGrp="1"/>
          </p:cNvSpPr>
          <p:nvPr/>
        </p:nvSpPr>
        <p:spPr>
          <a:xfrm xmlns:a="http://schemas.openxmlformats.org/drawingml/2006/main">
            <a:off x="7734300" y="4095750"/>
            <a:ext cx="2895600" cy="476250"/>
          </a:xfrm>
          <a:prstGeom xmlns:a="http://schemas.openxmlformats.org/drawingml/2006/main" prst="rect">
            <a:avLst/>
          </a:prstGeom>
          <a:solidFill xmlns:a="http://schemas.openxmlformats.org/drawingml/2006/main">
            <a:srgbClr val="FFF7ED"/>
          </a:solidFill>
          <a:ln xmlns:a="http://schemas.openxmlformats.org/drawingml/2006/main" w="0">
            <a:noFill/>
          </a:ln>
        </p:spPr>
        <p:txBody>
          <a:bodyPr xmlns:a="http://schemas.openxmlformats.org/drawingml/2006/main" wrap="square" lIns="76200" tIns="76200" rIns="76200" bIns="76200">
            <a:normAutofit fontScale="67403"/>
          </a:bodyPr>
          <a:lstStyle xmlns:a="http://schemas.openxmlformats.org/drawingml/2006/main"/>
          <a:p xmlns:a="http://schemas.openxmlformats.org/drawingml/2006/main">
            <a:pPr algn="l">
              <a:defRPr sz="1350" b="0">
                <a:solidFill>
                  <a:srgbClr val="334155"/>
                </a:solidFill>
                <a:latin typeface="Arial"/>
                <a:ea typeface="Arial"/>
                <a:cs typeface="Arial"/>
              </a:defRPr>
            </a:pPr>
            <a:r>
              <a:rPr sz="1350" b="0">
                <a:solidFill>
                  <a:srgbClr val="334155"/>
                </a:solidFill>
                <a:latin typeface="Arial"/>
                <a:ea typeface="Arial"/>
                <a:cs typeface="Arial"/>
              </a:rPr>
              <a:t>The better threshold variants are exploratory because the thresholds were inspected on this same sample.</a:t>
            </a:r>
          </a:p>
        </p:txBody>
      </p:sp>
      <p:sp>
        <p:nvSpPr>
          <p:cNvPr id="24" name="">
            <a:extLst xmlns:a="http://schemas.openxmlformats.org/drawingml/2006/main">
              <a:ext uri="{FF2B5EF4-FFF2-40B4-BE49-F238E27FC236}">
                <a16:creationId xmlns:a16="http://schemas.microsoft.com/office/drawing/2014/main" id="{313C0B5B-EEE8-4769-BCAF-8587A4D859FD}"/>
              </a:ext>
            </a:extLst>
          </p:cNvPr>
          <p:cNvSpPr>
            <a:spLocks xmlns:a="http://schemas.openxmlformats.org/drawingml/2006/main" noGrp="1"/>
          </p:cNvSpPr>
          <p:nvPr/>
        </p:nvSpPr>
        <p:spPr>
          <a:xfrm xmlns:a="http://schemas.openxmlformats.org/drawingml/2006/main">
            <a:off x="457200" y="6496050"/>
            <a:ext cx="8382000" cy="2095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750" b="0">
                <a:solidFill>
                  <a:srgbClr val="64748B"/>
                </a:solidFill>
                <a:latin typeface="Arial"/>
                <a:ea typeface="Arial"/>
                <a:cs typeface="Arial"/>
              </a:defRPr>
            </a:pPr>
            <a:r>
              <a:rPr sz="750" b="0">
                <a:solidFill>
                  <a:srgbClr val="64748B"/>
                </a:solidFill>
                <a:latin typeface="Arial"/>
                <a:ea typeface="Arial"/>
                <a:cs typeface="Arial"/>
              </a:rPr>
              <a:t>Source: local replication of Atilgan, Bali, and Demirtas (2015) signal on OptionDataNM2026.csv</a:t>
            </a:r>
          </a:p>
        </p:txBody>
      </p:sp>
      <p:sp>
        <p:nvSpPr>
          <p:cNvPr id="25" name="">
            <a:extLst xmlns:a="http://schemas.openxmlformats.org/drawingml/2006/main">
              <a:ext uri="{FF2B5EF4-FFF2-40B4-BE49-F238E27FC236}">
                <a16:creationId xmlns:a16="http://schemas.microsoft.com/office/drawing/2014/main" id="{787EDE7E-1A1F-47AC-BD03-63A14054B463}"/>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sz="750" b="0">
                <a:solidFill>
                  <a:srgbClr val="64748B"/>
                </a:solidFill>
                <a:latin typeface="Arial"/>
                <a:ea typeface="Arial"/>
                <a:cs typeface="Arial"/>
              </a:defRPr>
            </a:pPr>
            <a:r>
              <a:rPr sz="750" b="0">
                <a:solidFill>
                  <a:srgbClr val="64748B"/>
                </a:solidFill>
                <a:latin typeface="Arial"/>
                <a:ea typeface="Arial"/>
                <a:cs typeface="Arial"/>
              </a:rPr>
              <a:t>6</a:t>
            </a:r>
          </a:p>
        </p:txBody>
      </p:sp>
    </p:spTree>
    <p:extLst>
      <p:ext uri="{BB962C8B-B14F-4D97-AF65-F5344CB8AC3E}">
        <p14:creationId xmlns:p14="http://schemas.microsoft.com/office/powerpoint/2010/main" val="75590750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55BB78B-038A-4AE7-A067-3746F7EC504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ln>
        </p:spPr>
      </p:sp>
      <p:sp>
        <p:nvSpPr>
          <p:cNvPr id="2" name="">
            <a:extLst xmlns:a="http://schemas.openxmlformats.org/drawingml/2006/main">
              <a:ext uri="{FF2B5EF4-FFF2-40B4-BE49-F238E27FC236}">
                <a16:creationId xmlns:a16="http://schemas.microsoft.com/office/drawing/2014/main" id="{68C135DF-44A7-4DEE-A6DD-1B559D8320A1}"/>
              </a:ext>
            </a:extLst>
          </p:cNvPr>
          <p:cNvSpPr>
            <a:spLocks xmlns:a="http://schemas.openxmlformats.org/drawingml/2006/main" noGrp="1"/>
          </p:cNvSpPr>
          <p:nvPr/>
        </p:nvSpPr>
        <p:spPr>
          <a:xfrm xmlns:a="http://schemas.openxmlformats.org/drawingml/2006/main">
            <a:off x="514350" y="323850"/>
            <a:ext cx="3048000" cy="26670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38100" rIns="0" bIns="0">
            <a:normAutofit fontScale="100000"/>
          </a:bodyPr>
          <a:lstStyle xmlns:a="http://schemas.openxmlformats.org/drawingml/2006/main"/>
          <a:p xmlns:a="http://schemas.openxmlformats.org/drawingml/2006/main">
            <a:pPr algn="l">
              <a:defRPr sz="975" b="1">
                <a:solidFill>
                  <a:srgbClr val="C2410C"/>
                </a:solidFill>
                <a:latin typeface="Arial"/>
                <a:ea typeface="Arial"/>
                <a:cs typeface="Arial"/>
              </a:defRPr>
            </a:pPr>
            <a:r>
              <a:rPr sz="975" b="1">
                <a:solidFill>
                  <a:srgbClr val="C2410C"/>
                </a:solidFill>
                <a:latin typeface="Arial"/>
                <a:ea typeface="Arial"/>
                <a:cs typeface="Arial"/>
              </a:rPr>
              <a:t>CONCLUSION</a:t>
            </a:r>
          </a:p>
        </p:txBody>
      </p:sp>
      <p:sp>
        <p:nvSpPr>
          <p:cNvPr id="3" name="">
            <a:extLst xmlns:a="http://schemas.openxmlformats.org/drawingml/2006/main">
              <a:ext uri="{FF2B5EF4-FFF2-40B4-BE49-F238E27FC236}">
                <a16:creationId xmlns:a16="http://schemas.microsoft.com/office/drawing/2014/main" id="{1992B082-D163-45FC-8714-A513EE06F404}"/>
              </a:ext>
            </a:extLst>
          </p:cNvPr>
          <p:cNvSpPr>
            <a:spLocks xmlns:a="http://schemas.openxmlformats.org/drawingml/2006/main" noGrp="1"/>
          </p:cNvSpPr>
          <p:nvPr/>
        </p:nvSpPr>
        <p:spPr>
          <a:xfrm xmlns:a="http://schemas.openxmlformats.org/drawingml/2006/main">
            <a:off x="457200" y="628650"/>
            <a:ext cx="8858250" cy="91440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3000" b="1">
                <a:solidFill>
                  <a:srgbClr val="172033"/>
                </a:solidFill>
                <a:latin typeface="Arial"/>
                <a:ea typeface="Arial"/>
                <a:cs typeface="Arial"/>
              </a:defRPr>
            </a:pPr>
            <a:r>
              <a:rPr sz="3000" b="1">
                <a:solidFill>
                  <a:srgbClr val="172033"/>
                </a:solidFill>
                <a:latin typeface="Arial"/>
                <a:ea typeface="Arial"/>
                <a:cs typeface="Arial"/>
              </a:rPr>
              <a:t>Partial directional support, not a clean alpha replication.</a:t>
            </a:r>
          </a:p>
        </p:txBody>
      </p:sp>
      <p:sp>
        <p:nvSpPr>
          <p:cNvPr id="4" name="">
            <a:extLst xmlns:a="http://schemas.openxmlformats.org/drawingml/2006/main">
              <a:ext uri="{FF2B5EF4-FFF2-40B4-BE49-F238E27FC236}">
                <a16:creationId xmlns:a16="http://schemas.microsoft.com/office/drawing/2014/main" id="{9227EAB0-A162-4981-BE14-40F1C8025A2C}"/>
              </a:ext>
            </a:extLst>
          </p:cNvPr>
          <p:cNvSpPr>
            <a:spLocks xmlns:a="http://schemas.openxmlformats.org/drawingml/2006/main" noGrp="1"/>
          </p:cNvSpPr>
          <p:nvPr/>
        </p:nvSpPr>
        <p:spPr>
          <a:xfrm xmlns:a="http://schemas.openxmlformats.org/drawingml/2006/main">
            <a:off x="742950" y="2095500"/>
            <a:ext cx="4762500" cy="121920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5" name="">
            <a:extLst xmlns:a="http://schemas.openxmlformats.org/drawingml/2006/main">
              <a:ext uri="{FF2B5EF4-FFF2-40B4-BE49-F238E27FC236}">
                <a16:creationId xmlns:a16="http://schemas.microsoft.com/office/drawing/2014/main" id="{7F2123EF-BF6C-41F1-99B8-D5CD1F916DB5}"/>
              </a:ext>
            </a:extLst>
          </p:cNvPr>
          <p:cNvSpPr>
            <a:spLocks xmlns:a="http://schemas.openxmlformats.org/drawingml/2006/main" noGrp="1"/>
          </p:cNvSpPr>
          <p:nvPr/>
        </p:nvSpPr>
        <p:spPr>
          <a:xfrm xmlns:a="http://schemas.openxmlformats.org/drawingml/2006/main">
            <a:off x="742950" y="2095500"/>
            <a:ext cx="76200" cy="1219200"/>
          </a:xfrm>
          <a:prstGeom xmlns:a="http://schemas.openxmlformats.org/drawingml/2006/main" prst="rect">
            <a:avLst/>
          </a:prstGeom>
          <a:solidFill xmlns:a="http://schemas.openxmlformats.org/drawingml/2006/main">
            <a:srgbClr val="0F766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2E17EEA-6A3A-4421-94B0-EA4F4FE932AC}"/>
              </a:ext>
            </a:extLst>
          </p:cNvPr>
          <p:cNvSpPr>
            <a:spLocks xmlns:a="http://schemas.openxmlformats.org/drawingml/2006/main" noGrp="1"/>
          </p:cNvSpPr>
          <p:nvPr/>
        </p:nvSpPr>
        <p:spPr>
          <a:xfrm xmlns:a="http://schemas.openxmlformats.org/drawingml/2006/main">
            <a:off x="1009650" y="2305050"/>
            <a:ext cx="4000500" cy="2667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52632"/>
          </a:bodyPr>
          <a:lstStyle xmlns:a="http://schemas.openxmlformats.org/drawingml/2006/main"/>
          <a:p xmlns:a="http://schemas.openxmlformats.org/drawingml/2006/main">
            <a:pPr algn="l">
              <a:defRPr sz="1425" b="1">
                <a:solidFill>
                  <a:srgbClr val="0F766E"/>
                </a:solidFill>
                <a:latin typeface="Arial"/>
                <a:ea typeface="Arial"/>
                <a:cs typeface="Arial"/>
              </a:defRPr>
            </a:pPr>
            <a:r>
              <a:rPr sz="1425" b="1">
                <a:solidFill>
                  <a:srgbClr val="0F766E"/>
                </a:solidFill>
                <a:latin typeface="Arial"/>
                <a:ea typeface="Arial"/>
                <a:cs typeface="Arial"/>
              </a:rPr>
              <a:t>What holds up</a:t>
            </a:r>
          </a:p>
        </p:txBody>
      </p:sp>
      <p:sp>
        <p:nvSpPr>
          <p:cNvPr id="7" name="">
            <a:extLst xmlns:a="http://schemas.openxmlformats.org/drawingml/2006/main">
              <a:ext uri="{FF2B5EF4-FFF2-40B4-BE49-F238E27FC236}">
                <a16:creationId xmlns:a16="http://schemas.microsoft.com/office/drawing/2014/main" id="{848B65B8-FA32-4CF8-A795-4367BCD2A382}"/>
              </a:ext>
            </a:extLst>
          </p:cNvPr>
          <p:cNvSpPr>
            <a:spLocks xmlns:a="http://schemas.openxmlformats.org/drawingml/2006/main" noGrp="1"/>
          </p:cNvSpPr>
          <p:nvPr/>
        </p:nvSpPr>
        <p:spPr>
          <a:xfrm xmlns:a="http://schemas.openxmlformats.org/drawingml/2006/main">
            <a:off x="1009650" y="2686050"/>
            <a:ext cx="4000500" cy="4000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71581"/>
          </a:bodyPr>
          <a:lstStyle xmlns:a="http://schemas.openxmlformats.org/drawingml/2006/main"/>
          <a:p xmlns:a="http://schemas.openxmlformats.org/drawingml/2006/main">
            <a:pPr algn="l">
              <a:defRPr sz="1350" b="0">
                <a:solidFill>
                  <a:srgbClr val="334155"/>
                </a:solidFill>
                <a:latin typeface="Arial"/>
                <a:ea typeface="Arial"/>
                <a:cs typeface="Arial"/>
              </a:defRPr>
            </a:pPr>
            <a:r>
              <a:rPr sz="1350" b="0">
                <a:solidFill>
                  <a:srgbClr val="334155"/>
                </a:solidFill>
                <a:latin typeface="Arial"/>
                <a:ea typeface="Arial"/>
                <a:cs typeface="Arial"/>
              </a:rPr>
              <a:t>The main coefficient has the paper's negative direction in the daily test.</a:t>
            </a:r>
          </a:p>
        </p:txBody>
      </p:sp>
      <p:sp>
        <p:nvSpPr>
          <p:cNvPr id="8" name="">
            <a:extLst xmlns:a="http://schemas.openxmlformats.org/drawingml/2006/main">
              <a:ext uri="{FF2B5EF4-FFF2-40B4-BE49-F238E27FC236}">
                <a16:creationId xmlns:a16="http://schemas.microsoft.com/office/drawing/2014/main" id="{C59101D6-2F80-4216-9FEE-471453D5A006}"/>
              </a:ext>
            </a:extLst>
          </p:cNvPr>
          <p:cNvSpPr>
            <a:spLocks xmlns:a="http://schemas.openxmlformats.org/drawingml/2006/main" noGrp="1"/>
          </p:cNvSpPr>
          <p:nvPr/>
        </p:nvSpPr>
        <p:spPr>
          <a:xfrm xmlns:a="http://schemas.openxmlformats.org/drawingml/2006/main">
            <a:off x="6229350" y="2095500"/>
            <a:ext cx="4762500" cy="121920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9" name="">
            <a:extLst xmlns:a="http://schemas.openxmlformats.org/drawingml/2006/main">
              <a:ext uri="{FF2B5EF4-FFF2-40B4-BE49-F238E27FC236}">
                <a16:creationId xmlns:a16="http://schemas.microsoft.com/office/drawing/2014/main" id="{770C3B9A-54D3-4A7E-8CAE-BF8ECE423D90}"/>
              </a:ext>
            </a:extLst>
          </p:cNvPr>
          <p:cNvSpPr>
            <a:spLocks xmlns:a="http://schemas.openxmlformats.org/drawingml/2006/main" noGrp="1"/>
          </p:cNvSpPr>
          <p:nvPr/>
        </p:nvSpPr>
        <p:spPr>
          <a:xfrm xmlns:a="http://schemas.openxmlformats.org/drawingml/2006/main">
            <a:off x="6229350" y="2095500"/>
            <a:ext cx="76200" cy="1219200"/>
          </a:xfrm>
          <a:prstGeom xmlns:a="http://schemas.openxmlformats.org/drawingml/2006/main" prst="rect">
            <a:avLst/>
          </a:prstGeom>
          <a:solidFill xmlns:a="http://schemas.openxmlformats.org/drawingml/2006/main">
            <a:srgbClr val="C2410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382A39D-D381-4846-8AFA-33AD35473489}"/>
              </a:ext>
            </a:extLst>
          </p:cNvPr>
          <p:cNvSpPr>
            <a:spLocks xmlns:a="http://schemas.openxmlformats.org/drawingml/2006/main" noGrp="1"/>
          </p:cNvSpPr>
          <p:nvPr/>
        </p:nvSpPr>
        <p:spPr>
          <a:xfrm xmlns:a="http://schemas.openxmlformats.org/drawingml/2006/main">
            <a:off x="6496050" y="2305050"/>
            <a:ext cx="4000500" cy="2667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52632"/>
          </a:bodyPr>
          <a:lstStyle xmlns:a="http://schemas.openxmlformats.org/drawingml/2006/main"/>
          <a:p xmlns:a="http://schemas.openxmlformats.org/drawingml/2006/main">
            <a:pPr algn="l">
              <a:defRPr sz="1425" b="1">
                <a:solidFill>
                  <a:srgbClr val="C2410C"/>
                </a:solidFill>
                <a:latin typeface="Arial"/>
                <a:ea typeface="Arial"/>
                <a:cs typeface="Arial"/>
              </a:defRPr>
            </a:pPr>
            <a:r>
              <a:rPr sz="1425" b="1">
                <a:solidFill>
                  <a:srgbClr val="C2410C"/>
                </a:solidFill>
                <a:latin typeface="Arial"/>
                <a:ea typeface="Arial"/>
                <a:cs typeface="Arial"/>
              </a:rPr>
              <a:t>What weakens</a:t>
            </a:r>
          </a:p>
        </p:txBody>
      </p:sp>
      <p:sp>
        <p:nvSpPr>
          <p:cNvPr id="11" name="">
            <a:extLst xmlns:a="http://schemas.openxmlformats.org/drawingml/2006/main">
              <a:ext uri="{FF2B5EF4-FFF2-40B4-BE49-F238E27FC236}">
                <a16:creationId xmlns:a16="http://schemas.microsoft.com/office/drawing/2014/main" id="{53182B46-D236-4974-9E85-0E03BCF5BD34}"/>
              </a:ext>
            </a:extLst>
          </p:cNvPr>
          <p:cNvSpPr>
            <a:spLocks xmlns:a="http://schemas.openxmlformats.org/drawingml/2006/main" noGrp="1"/>
          </p:cNvSpPr>
          <p:nvPr/>
        </p:nvSpPr>
        <p:spPr>
          <a:xfrm xmlns:a="http://schemas.openxmlformats.org/drawingml/2006/main">
            <a:off x="6496050" y="2686050"/>
            <a:ext cx="4000500" cy="4000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68947"/>
          </a:bodyPr>
          <a:lstStyle xmlns:a="http://schemas.openxmlformats.org/drawingml/2006/main"/>
          <a:p xmlns:a="http://schemas.openxmlformats.org/drawingml/2006/main">
            <a:pPr algn="l">
              <a:defRPr sz="1350" b="0">
                <a:solidFill>
                  <a:srgbClr val="334155"/>
                </a:solidFill>
                <a:latin typeface="Arial"/>
                <a:ea typeface="Arial"/>
                <a:cs typeface="Arial"/>
              </a:defRPr>
            </a:pPr>
            <a:r>
              <a:rPr sz="1350" b="0">
                <a:solidFill>
                  <a:srgbClr val="334155"/>
                </a:solidFill>
                <a:latin typeface="Arial"/>
                <a:ea typeface="Arial"/>
                <a:cs typeface="Arial"/>
              </a:rPr>
              <a:t>The effect is statistically weak and sensitive across variants and horizons.</a:t>
            </a:r>
          </a:p>
        </p:txBody>
      </p:sp>
      <p:sp>
        <p:nvSpPr>
          <p:cNvPr id="12" name="">
            <a:extLst xmlns:a="http://schemas.openxmlformats.org/drawingml/2006/main">
              <a:ext uri="{FF2B5EF4-FFF2-40B4-BE49-F238E27FC236}">
                <a16:creationId xmlns:a16="http://schemas.microsoft.com/office/drawing/2014/main" id="{6BAB12A6-FCC7-4E9B-B061-2C985A598442}"/>
              </a:ext>
            </a:extLst>
          </p:cNvPr>
          <p:cNvSpPr>
            <a:spLocks xmlns:a="http://schemas.openxmlformats.org/drawingml/2006/main" noGrp="1"/>
          </p:cNvSpPr>
          <p:nvPr/>
        </p:nvSpPr>
        <p:spPr>
          <a:xfrm xmlns:a="http://schemas.openxmlformats.org/drawingml/2006/main">
            <a:off x="742950" y="3905250"/>
            <a:ext cx="4762500" cy="121920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13" name="">
            <a:extLst xmlns:a="http://schemas.openxmlformats.org/drawingml/2006/main">
              <a:ext uri="{FF2B5EF4-FFF2-40B4-BE49-F238E27FC236}">
                <a16:creationId xmlns:a16="http://schemas.microsoft.com/office/drawing/2014/main" id="{29DB0BCF-AF21-4504-B5D5-8CC1803DD4D0}"/>
              </a:ext>
            </a:extLst>
          </p:cNvPr>
          <p:cNvSpPr>
            <a:spLocks xmlns:a="http://schemas.openxmlformats.org/drawingml/2006/main" noGrp="1"/>
          </p:cNvSpPr>
          <p:nvPr/>
        </p:nvSpPr>
        <p:spPr>
          <a:xfrm xmlns:a="http://schemas.openxmlformats.org/drawingml/2006/main">
            <a:off x="742950" y="3905250"/>
            <a:ext cx="76200" cy="1219200"/>
          </a:xfrm>
          <a:prstGeom xmlns:a="http://schemas.openxmlformats.org/drawingml/2006/main" prst="rect">
            <a:avLst/>
          </a:prstGeom>
          <a:solidFill xmlns:a="http://schemas.openxmlformats.org/drawingml/2006/main">
            <a:srgbClr val="B91C1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AE10BCF-CF85-4A06-80E6-337703AFCA6E}"/>
              </a:ext>
            </a:extLst>
          </p:cNvPr>
          <p:cNvSpPr>
            <a:spLocks xmlns:a="http://schemas.openxmlformats.org/drawingml/2006/main" noGrp="1"/>
          </p:cNvSpPr>
          <p:nvPr/>
        </p:nvSpPr>
        <p:spPr>
          <a:xfrm xmlns:a="http://schemas.openxmlformats.org/drawingml/2006/main">
            <a:off x="1009650" y="4114800"/>
            <a:ext cx="4000500" cy="2667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52632"/>
          </a:bodyPr>
          <a:lstStyle xmlns:a="http://schemas.openxmlformats.org/drawingml/2006/main"/>
          <a:p xmlns:a="http://schemas.openxmlformats.org/drawingml/2006/main">
            <a:pPr algn="l">
              <a:defRPr sz="1425" b="1">
                <a:solidFill>
                  <a:srgbClr val="B91C1C"/>
                </a:solidFill>
                <a:latin typeface="Arial"/>
                <a:ea typeface="Arial"/>
                <a:cs typeface="Arial"/>
              </a:defRPr>
            </a:pPr>
            <a:r>
              <a:rPr sz="1425" b="1">
                <a:solidFill>
                  <a:srgbClr val="B91C1C"/>
                </a:solidFill>
                <a:latin typeface="Arial"/>
                <a:ea typeface="Arial"/>
                <a:cs typeface="Arial"/>
              </a:rPr>
              <a:t>What limits the replication</a:t>
            </a:r>
          </a:p>
        </p:txBody>
      </p:sp>
      <p:sp>
        <p:nvSpPr>
          <p:cNvPr id="15" name="">
            <a:extLst xmlns:a="http://schemas.openxmlformats.org/drawingml/2006/main">
              <a:ext uri="{FF2B5EF4-FFF2-40B4-BE49-F238E27FC236}">
                <a16:creationId xmlns:a16="http://schemas.microsoft.com/office/drawing/2014/main" id="{D2782670-04EB-4FF7-8E49-DA8A11D53FF1}"/>
              </a:ext>
            </a:extLst>
          </p:cNvPr>
          <p:cNvSpPr>
            <a:spLocks xmlns:a="http://schemas.openxmlformats.org/drawingml/2006/main" noGrp="1"/>
          </p:cNvSpPr>
          <p:nvPr/>
        </p:nvSpPr>
        <p:spPr>
          <a:xfrm xmlns:a="http://schemas.openxmlformats.org/drawingml/2006/main">
            <a:off x="1009650" y="4495800"/>
            <a:ext cx="4000500" cy="4000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60185"/>
          </a:bodyPr>
          <a:lstStyle xmlns:a="http://schemas.openxmlformats.org/drawingml/2006/main"/>
          <a:p xmlns:a="http://schemas.openxmlformats.org/drawingml/2006/main">
            <a:pPr algn="l">
              <a:defRPr sz="1350" b="0">
                <a:solidFill>
                  <a:srgbClr val="334155"/>
                </a:solidFill>
                <a:latin typeface="Arial"/>
                <a:ea typeface="Arial"/>
                <a:cs typeface="Arial"/>
              </a:defRPr>
            </a:pPr>
            <a:r>
              <a:rPr sz="1350" b="0">
                <a:solidFill>
                  <a:srgbClr val="334155"/>
                </a:solidFill>
                <a:latin typeface="Arial"/>
                <a:ea typeface="Arial"/>
                <a:cs typeface="Arial"/>
              </a:rPr>
              <a:t>No volume or open interest means the demand-weighted paper variants are unavailable.</a:t>
            </a:r>
          </a:p>
        </p:txBody>
      </p:sp>
      <p:sp>
        <p:nvSpPr>
          <p:cNvPr id="16" name="">
            <a:extLst xmlns:a="http://schemas.openxmlformats.org/drawingml/2006/main">
              <a:ext uri="{FF2B5EF4-FFF2-40B4-BE49-F238E27FC236}">
                <a16:creationId xmlns:a16="http://schemas.microsoft.com/office/drawing/2014/main" id="{4388398A-7BFF-4810-B172-A4D50F0F7E21}"/>
              </a:ext>
            </a:extLst>
          </p:cNvPr>
          <p:cNvSpPr>
            <a:spLocks xmlns:a="http://schemas.openxmlformats.org/drawingml/2006/main" noGrp="1"/>
          </p:cNvSpPr>
          <p:nvPr/>
        </p:nvSpPr>
        <p:spPr>
          <a:xfrm xmlns:a="http://schemas.openxmlformats.org/drawingml/2006/main">
            <a:off x="6229350" y="3905250"/>
            <a:ext cx="4762500" cy="1219200"/>
          </a:xfrm>
          <a:prstGeom xmlns:a="http://schemas.openxmlformats.org/drawingml/2006/main" prst="rect">
            <a:avLst/>
          </a:prstGeom>
          <a:solidFill xmlns:a="http://schemas.openxmlformats.org/drawingml/2006/main">
            <a:srgbClr val="FFFDF7"/>
          </a:solidFill>
          <a:ln xmlns:a="http://schemas.openxmlformats.org/drawingml/2006/main" w="9525">
            <a:solidFill>
              <a:srgbClr val="D9D5C8"/>
            </a:solidFill>
          </a:ln>
        </p:spPr>
      </p:sp>
      <p:sp>
        <p:nvSpPr>
          <p:cNvPr id="17" name="">
            <a:extLst xmlns:a="http://schemas.openxmlformats.org/drawingml/2006/main">
              <a:ext uri="{FF2B5EF4-FFF2-40B4-BE49-F238E27FC236}">
                <a16:creationId xmlns:a16="http://schemas.microsoft.com/office/drawing/2014/main" id="{88C0590F-1AF8-41B5-B008-531FCD617ED7}"/>
              </a:ext>
            </a:extLst>
          </p:cNvPr>
          <p:cNvSpPr>
            <a:spLocks xmlns:a="http://schemas.openxmlformats.org/drawingml/2006/main" noGrp="1"/>
          </p:cNvSpPr>
          <p:nvPr/>
        </p:nvSpPr>
        <p:spPr>
          <a:xfrm xmlns:a="http://schemas.openxmlformats.org/drawingml/2006/main">
            <a:off x="6229350" y="3905250"/>
            <a:ext cx="76200" cy="1219200"/>
          </a:xfrm>
          <a:prstGeom xmlns:a="http://schemas.openxmlformats.org/drawingml/2006/main" prst="rect">
            <a:avLst/>
          </a:prstGeom>
          <a:solidFill xmlns:a="http://schemas.openxmlformats.org/drawingml/2006/main">
            <a:srgbClr val="1D4ED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995AFCE-9E89-42DF-9861-8DEA2C69E7AB}"/>
              </a:ext>
            </a:extLst>
          </p:cNvPr>
          <p:cNvSpPr>
            <a:spLocks xmlns:a="http://schemas.openxmlformats.org/drawingml/2006/main" noGrp="1"/>
          </p:cNvSpPr>
          <p:nvPr/>
        </p:nvSpPr>
        <p:spPr>
          <a:xfrm xmlns:a="http://schemas.openxmlformats.org/drawingml/2006/main">
            <a:off x="6496050" y="4114800"/>
            <a:ext cx="4000500" cy="26670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52632"/>
          </a:bodyPr>
          <a:lstStyle xmlns:a="http://schemas.openxmlformats.org/drawingml/2006/main"/>
          <a:p xmlns:a="http://schemas.openxmlformats.org/drawingml/2006/main">
            <a:pPr algn="l">
              <a:defRPr sz="1425" b="1">
                <a:solidFill>
                  <a:srgbClr val="1D4ED8"/>
                </a:solidFill>
                <a:latin typeface="Arial"/>
                <a:ea typeface="Arial"/>
                <a:cs typeface="Arial"/>
              </a:defRPr>
            </a:pPr>
            <a:r>
              <a:rPr sz="1425" b="1">
                <a:solidFill>
                  <a:srgbClr val="1D4ED8"/>
                </a:solidFill>
                <a:latin typeface="Arial"/>
                <a:ea typeface="Arial"/>
                <a:cs typeface="Arial"/>
              </a:rPr>
              <a:t>What to do next</a:t>
            </a:r>
          </a:p>
        </p:txBody>
      </p:sp>
      <p:sp>
        <p:nvSpPr>
          <p:cNvPr id="19" name="">
            <a:extLst xmlns:a="http://schemas.openxmlformats.org/drawingml/2006/main">
              <a:ext uri="{FF2B5EF4-FFF2-40B4-BE49-F238E27FC236}">
                <a16:creationId xmlns:a16="http://schemas.microsoft.com/office/drawing/2014/main" id="{088A9DEC-6B29-43A4-AEAB-841EDA2BFD76}"/>
              </a:ext>
            </a:extLst>
          </p:cNvPr>
          <p:cNvSpPr>
            <a:spLocks xmlns:a="http://schemas.openxmlformats.org/drawingml/2006/main" noGrp="1"/>
          </p:cNvSpPr>
          <p:nvPr/>
        </p:nvSpPr>
        <p:spPr>
          <a:xfrm xmlns:a="http://schemas.openxmlformats.org/drawingml/2006/main">
            <a:off x="6496050" y="4495800"/>
            <a:ext cx="4000500" cy="400050"/>
          </a:xfrm>
          <a:prstGeom xmlns:a="http://schemas.openxmlformats.org/drawingml/2006/main" prst="rect">
            <a:avLst/>
          </a:prstGeom>
          <a:solidFill xmlns:a="http://schemas.openxmlformats.org/drawingml/2006/main">
            <a:srgbClr val="FFFDF7"/>
          </a:solidFill>
          <a:ln xmlns:a="http://schemas.openxmlformats.org/drawingml/2006/main" w="0">
            <a:noFill/>
          </a:ln>
        </p:spPr>
        <p:txBody>
          <a:bodyPr xmlns:a="http://schemas.openxmlformats.org/drawingml/2006/main" wrap="square" lIns="76200" tIns="76200" rIns="76200" bIns="76200">
            <a:normAutofit fontScale="60185"/>
          </a:bodyPr>
          <a:lstStyle xmlns:a="http://schemas.openxmlformats.org/drawingml/2006/main"/>
          <a:p xmlns:a="http://schemas.openxmlformats.org/drawingml/2006/main">
            <a:pPr algn="l">
              <a:defRPr sz="1350" b="0">
                <a:solidFill>
                  <a:srgbClr val="334155"/>
                </a:solidFill>
                <a:latin typeface="Arial"/>
                <a:ea typeface="Arial"/>
                <a:cs typeface="Arial"/>
              </a:defRPr>
            </a:pPr>
            <a:r>
              <a:rPr sz="1350" b="0">
                <a:solidFill>
                  <a:srgbClr val="334155"/>
                </a:solidFill>
                <a:latin typeface="Arial"/>
                <a:ea typeface="Arial"/>
                <a:cs typeface="Arial"/>
              </a:rPr>
              <a:t>Retest on richer option data with volume, open interest, wider dates, and locked thresholds.</a:t>
            </a:r>
          </a:p>
        </p:txBody>
      </p:sp>
      <p:sp>
        <p:nvSpPr>
          <p:cNvPr id="20" name="">
            <a:extLst xmlns:a="http://schemas.openxmlformats.org/drawingml/2006/main">
              <a:ext uri="{FF2B5EF4-FFF2-40B4-BE49-F238E27FC236}">
                <a16:creationId xmlns:a16="http://schemas.microsoft.com/office/drawing/2014/main" id="{35A03477-FB02-48FE-BD99-1D0CD0D1AD4B}"/>
              </a:ext>
            </a:extLst>
          </p:cNvPr>
          <p:cNvSpPr>
            <a:spLocks xmlns:a="http://schemas.openxmlformats.org/drawingml/2006/main" noGrp="1"/>
          </p:cNvSpPr>
          <p:nvPr/>
        </p:nvSpPr>
        <p:spPr>
          <a:xfrm xmlns:a="http://schemas.openxmlformats.org/drawingml/2006/main">
            <a:off x="781050" y="5581650"/>
            <a:ext cx="3619500" cy="26670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76200" tIns="76200" rIns="76200" bIns="76200">
            <a:normAutofit fontScale="58823"/>
          </a:bodyPr>
          <a:lstStyle xmlns:a="http://schemas.openxmlformats.org/drawingml/2006/main"/>
          <a:p xmlns:a="http://schemas.openxmlformats.org/drawingml/2006/main">
            <a:pPr algn="l">
              <a:defRPr sz="1275" b="1">
                <a:solidFill>
                  <a:srgbClr val="64748B"/>
                </a:solidFill>
                <a:latin typeface="Arial"/>
                <a:ea typeface="Arial"/>
                <a:cs typeface="Arial"/>
              </a:defRPr>
            </a:pPr>
            <a:r>
              <a:rPr sz="1275" b="1">
                <a:solidFill>
                  <a:srgbClr val="64748B"/>
                </a:solidFill>
                <a:latin typeface="Arial"/>
                <a:ea typeface="Arial"/>
                <a:cs typeface="Arial"/>
              </a:rPr>
              <a:t>One sentence to leave the class with:</a:t>
            </a:r>
          </a:p>
        </p:txBody>
      </p:sp>
      <p:sp>
        <p:nvSpPr>
          <p:cNvPr id="21" name="">
            <a:extLst xmlns:a="http://schemas.openxmlformats.org/drawingml/2006/main">
              <a:ext uri="{FF2B5EF4-FFF2-40B4-BE49-F238E27FC236}">
                <a16:creationId xmlns:a16="http://schemas.microsoft.com/office/drawing/2014/main" id="{79F39636-52C6-4972-A849-A766CED39A85}"/>
              </a:ext>
            </a:extLst>
          </p:cNvPr>
          <p:cNvSpPr>
            <a:spLocks xmlns:a="http://schemas.openxmlformats.org/drawingml/2006/main" noGrp="1"/>
          </p:cNvSpPr>
          <p:nvPr/>
        </p:nvSpPr>
        <p:spPr>
          <a:xfrm xmlns:a="http://schemas.openxmlformats.org/drawingml/2006/main">
            <a:off x="781050" y="5867400"/>
            <a:ext cx="9620250" cy="38100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76200" tIns="76200" rIns="76200" bIns="76200">
            <a:normAutofit fontScale="59571"/>
          </a:bodyPr>
          <a:lstStyle xmlns:a="http://schemas.openxmlformats.org/drawingml/2006/main"/>
          <a:p xmlns:a="http://schemas.openxmlformats.org/drawingml/2006/main">
            <a:pPr algn="l">
              <a:defRPr sz="1950" b="1">
                <a:solidFill>
                  <a:srgbClr val="172033"/>
                </a:solidFill>
                <a:latin typeface="Arial"/>
                <a:ea typeface="Arial"/>
                <a:cs typeface="Arial"/>
              </a:defRPr>
            </a:pPr>
            <a:r>
              <a:rPr sz="1950" b="1">
                <a:solidFill>
                  <a:srgbClr val="172033"/>
                </a:solidFill>
                <a:latin typeface="Arial"/>
                <a:ea typeface="Arial"/>
                <a:cs typeface="Arial"/>
              </a:rPr>
              <a:t>A signal can be economically intuitive and published with support, but still become weaker, noisier, or harder to trade after publication.</a:t>
            </a:r>
          </a:p>
        </p:txBody>
      </p:sp>
      <p:sp>
        <p:nvSpPr>
          <p:cNvPr id="22" name="">
            <a:extLst xmlns:a="http://schemas.openxmlformats.org/drawingml/2006/main">
              <a:ext uri="{FF2B5EF4-FFF2-40B4-BE49-F238E27FC236}">
                <a16:creationId xmlns:a16="http://schemas.microsoft.com/office/drawing/2014/main" id="{D041BFD0-A664-4687-970D-2BF97DD72C15}"/>
              </a:ext>
            </a:extLst>
          </p:cNvPr>
          <p:cNvSpPr>
            <a:spLocks xmlns:a="http://schemas.openxmlformats.org/drawingml/2006/main" noGrp="1"/>
          </p:cNvSpPr>
          <p:nvPr/>
        </p:nvSpPr>
        <p:spPr>
          <a:xfrm xmlns:a="http://schemas.openxmlformats.org/drawingml/2006/main">
            <a:off x="457200" y="6496050"/>
            <a:ext cx="8382000" cy="2095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l">
              <a:defRPr sz="750" b="0">
                <a:solidFill>
                  <a:srgbClr val="64748B"/>
                </a:solidFill>
                <a:latin typeface="Arial"/>
                <a:ea typeface="Arial"/>
                <a:cs typeface="Arial"/>
              </a:defRPr>
            </a:pPr>
            <a:r>
              <a:rPr sz="750" b="0">
                <a:solidFill>
                  <a:srgbClr val="64748B"/>
                </a:solidFill>
                <a:latin typeface="Arial"/>
                <a:ea typeface="Arial"/>
                <a:cs typeface="Arial"/>
              </a:rPr>
              <a:t>Source: local replication of Atilgan, Bali, and Demirtas (2015) signal on OptionDataNM2026.csv</a:t>
            </a:r>
          </a:p>
        </p:txBody>
      </p:sp>
      <p:sp>
        <p:nvSpPr>
          <p:cNvPr id="23" name="">
            <a:extLst xmlns:a="http://schemas.openxmlformats.org/drawingml/2006/main">
              <a:ext uri="{FF2B5EF4-FFF2-40B4-BE49-F238E27FC236}">
                <a16:creationId xmlns:a16="http://schemas.microsoft.com/office/drawing/2014/main" id="{88608DEC-2E65-4A08-B49A-01F32A208AAE}"/>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solidFill xmlns:a="http://schemas.openxmlformats.org/drawingml/2006/main">
            <a:srgbClr val="F7F3EA"/>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r">
              <a:defRPr sz="750" b="0">
                <a:solidFill>
                  <a:srgbClr val="64748B"/>
                </a:solidFill>
                <a:latin typeface="Arial"/>
                <a:ea typeface="Arial"/>
                <a:cs typeface="Arial"/>
              </a:defRPr>
            </a:pPr>
            <a:r>
              <a:rPr sz="750" b="0">
                <a:solidFill>
                  <a:srgbClr val="64748B"/>
                </a:solidFill>
                <a:latin typeface="Arial"/>
                <a:ea typeface="Arial"/>
                <a:cs typeface="Arial"/>
              </a:rPr>
              <a:t>7</a:t>
            </a:r>
          </a:p>
        </p:txBody>
      </p:sp>
    </p:spTree>
    <p:extLst>
      <p:ext uri="{BB962C8B-B14F-4D97-AF65-F5344CB8AC3E}">
        <p14:creationId xmlns:p14="http://schemas.microsoft.com/office/powerpoint/2010/main" val="16133506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2026-05-25T21:50:40.1080000Z</dcterms:created>
  <dcterms:modified xsi:type="dcterms:W3CDTF">2026-05-25T21:50:40.1080000Z</dcterms:modified>
</coreProperties>
</file>